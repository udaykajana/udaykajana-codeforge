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  <p:sldMasterId id="2147483750" r:id="rId5"/>
  </p:sldMasterIdLst>
  <p:notesMasterIdLst>
    <p:notesMasterId r:id="rId7"/>
  </p:notesMasterIdLst>
  <p:sldIdLst>
    <p:sldId id="256" r:id="rId6"/>
    <p:sldId id="257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32480-AB4D-BA81-F02D-7E861F173148}" v="29" dt="2026-05-29T07:17:12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2.xml"/><Relationship Id="rId14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AC9AB-10AF-43D4-938D-CAE13FA6803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932A8-3EB0-4B56-AF58-8A7129F90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06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://www.prodapt.com/" TargetMode="Externa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6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eg"/><Relationship Id="rId3" Type="http://schemas.openxmlformats.org/officeDocument/2006/relationships/image" Target="../media/image1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://www.prodapt.com/" TargetMode="Externa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323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41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27514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22042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67712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26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86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66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building&#10;&#10;Description automatically generated">
            <a:extLst>
              <a:ext uri="{FF2B5EF4-FFF2-40B4-BE49-F238E27FC236}">
                <a16:creationId xmlns:a16="http://schemas.microsoft.com/office/drawing/2014/main" id="{4B25582B-329F-41DD-0BF1-85B6B7765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51427" cy="68614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40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13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74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395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377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08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74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214953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80363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124832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98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28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37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156047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13995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9958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251862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492190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7158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8926783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53441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8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85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4358156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34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8235551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5288218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986325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438052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64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953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367903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 slid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5AA4347-1007-81BD-5B10-67FA43883F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996" y="1326117"/>
            <a:ext cx="5606503" cy="4926328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8800">
                <a:latin typeface="KareliaWeb Regular" panose="00000500000000000000" pitchFamily="2" charset="0"/>
              </a:defRPr>
            </a:lvl1pPr>
          </a:lstStyle>
          <a:p>
            <a:pPr lvl="0"/>
            <a:r>
              <a:rPr lang="en-IN"/>
              <a:t>2500+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36E1D0-68B8-A965-0A1A-DA590EE34C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1A93513-D318-1B19-286C-9796FF0D75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Number slide with description</a:t>
            </a:r>
            <a:endParaRPr lang="en-US"/>
          </a:p>
        </p:txBody>
      </p:sp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6FAFAFC1-6AB8-4C96-F015-5EEC407D0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09" y="1326118"/>
            <a:ext cx="5710095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6BDFB01-C023-6344-EBC0-2F8F33A066F3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752845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14262538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5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877199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584112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8245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866639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8288661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1603879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2230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518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430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CA058-5723-B805-566A-09BE09555A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50" t="427" r="15144" b="34419"/>
          <a:stretch/>
        </p:blipFill>
        <p:spPr>
          <a:xfrm>
            <a:off x="-1" y="0"/>
            <a:ext cx="1225142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7731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1629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1405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5912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5741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392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687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563919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324451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39238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377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5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57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506890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264166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591718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5932971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6889223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90621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488539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617493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958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57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451508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95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607359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161206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0031446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3337066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363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3913921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0465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5848498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143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120967756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7681"/>
            <a:ext cx="10972797" cy="834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90371"/>
            <a:ext cx="10972800" cy="40912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6AFD79-82E1-C143-90F1-03BA0E48C0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1" y="1464300"/>
            <a:ext cx="10972799" cy="44873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75C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815943-AE4F-064C-8525-BBDDBB2F5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9920" y="6389720"/>
            <a:ext cx="529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35675F-94B7-49AB-A0D8-992424F9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478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Relationship Id="rId46" Type="http://schemas.openxmlformats.org/officeDocument/2006/relationships/image" Target="../media/image1.svg"/><Relationship Id="rId4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2.xml"/><Relationship Id="rId39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86.xml"/><Relationship Id="rId43" Type="http://schemas.openxmlformats.org/officeDocument/2006/relationships/slideLayout" Target="../slideLayouts/slideLayout87.xml"/><Relationship Id="rId44" Type="http://schemas.openxmlformats.org/officeDocument/2006/relationships/slideLayout" Target="../slideLayouts/slideLayout88.xml"/><Relationship Id="rId45" Type="http://schemas.openxmlformats.org/officeDocument/2006/relationships/theme" Target="../theme/theme2.xml"/><Relationship Id="rId46" Type="http://schemas.openxmlformats.org/officeDocument/2006/relationships/image" Target="../media/image1.svg"/><Relationship Id="rId4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1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35" r:id="rId30"/>
    <p:sldLayoutId id="2147483736" r:id="rId31"/>
    <p:sldLayoutId id="2147483737" r:id="rId32"/>
    <p:sldLayoutId id="2147483738" r:id="rId33"/>
    <p:sldLayoutId id="2147483739" r:id="rId34"/>
    <p:sldLayoutId id="2147483740" r:id="rId35"/>
    <p:sldLayoutId id="2147483741" r:id="rId36"/>
    <p:sldLayoutId id="2147483742" r:id="rId37"/>
    <p:sldLayoutId id="2147483743" r:id="rId38"/>
    <p:sldLayoutId id="2147483744" r:id="rId39"/>
    <p:sldLayoutId id="2147483745" r:id="rId40"/>
    <p:sldLayoutId id="2147483746" r:id="rId41"/>
    <p:sldLayoutId id="2147483747" r:id="rId42"/>
    <p:sldLayoutId id="2147483748" r:id="rId43"/>
    <p:sldLayoutId id="2147483749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8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  <p:sldLayoutId id="2147483783" r:id="rId33"/>
    <p:sldLayoutId id="2147483784" r:id="rId34"/>
    <p:sldLayoutId id="2147483785" r:id="rId35"/>
    <p:sldLayoutId id="2147483786" r:id="rId36"/>
    <p:sldLayoutId id="2147483787" r:id="rId37"/>
    <p:sldLayoutId id="2147483788" r:id="rId38"/>
    <p:sldLayoutId id="2147483789" r:id="rId39"/>
    <p:sldLayoutId id="2147483790" r:id="rId40"/>
    <p:sldLayoutId id="2147483791" r:id="rId41"/>
    <p:sldLayoutId id="2147483792" r:id="rId42"/>
    <p:sldLayoutId id="2147483793" r:id="rId43"/>
    <p:sldLayoutId id="2147483794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The Problem: 2-Agent Direct on a Real Japanese Procurement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0BF"/>
                </a:solidFill>
              </a:rPr>
              <a:t>Schema inflation, missing domain fills, and wrong risk flags — genuine results from notebook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24128"/>
            <a:ext cx="4937760" cy="4251960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4937760" cy="310896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0698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ACTUAL TEST EMAIL  (fully Japanese — Suzuki Sekkei RFQ)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2646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From: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2646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yamamoto.kenta@suzuki-sekkei.co.jp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6504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To: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5049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bids@globalparts.com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87452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Subject: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745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[Urgent] 6-axis arc welding robot RFQ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09854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Date: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09854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2026-05-26  (Monday 10:32 JST)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32257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54660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Suzuki Sekkei Co., Ltd. [鈴木設計株式会社]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70632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18 units 6-axis arc welding robots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299466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FANUC M-10iA/12 or Yaskawa Motoman MA1440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321868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Budget: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21868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JPY 220,000,000 (excl. tax) — delivery incl.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44271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66674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Phase 1: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66674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6 units  Sep 15,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389077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Phase 2: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89077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6 units  Nov 30,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1148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Phase 3: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1148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6 units  Jan 31,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433882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456285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AMC: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6285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Min. 3 years — scope UNDEFINED in 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47868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Bid by: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78688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June 20, 2026  17:00 JST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501091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Contact: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01091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 Kenta [山本健太]  — Procurement Mgr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59552" y="1024128"/>
            <a:ext cx="6236208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9552" y="1024128"/>
            <a:ext cx="6236208" cy="31089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1069848"/>
            <a:ext cx="6053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2-AGENT DIRECT OUTPUT  (Pipeline B — actual notebook output)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1444752"/>
            <a:ext cx="6035040" cy="5669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14996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responding_party: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2632" y="149961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6x NEEDS_INPUT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54312" y="1499616"/>
            <a:ext cx="1408176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81743" y="1508760"/>
            <a:ext cx="1353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SCHEMA INFLATION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1755648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Vendor data has no place in a buyer-side RFQ — phantom section created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2057400"/>
            <a:ext cx="6035040" cy="5669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21122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secondary_contact: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2632" y="211226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6x NEEDS_INPUT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54312" y="2112264"/>
            <a:ext cx="1408176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81743" y="2121408"/>
            <a:ext cx="1353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SCHEMA INFLATION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2368296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12 spurious NEEDS_INPUT total — only 2 are genuine gaps in the email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2670048"/>
            <a:ext cx="6035040" cy="5669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272491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risk_flags: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2632" y="27249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"No supplier details..."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54312" y="2724912"/>
            <a:ext cx="1328166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81743" y="2734056"/>
            <a:ext cx="12733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WRONG RISK FLAG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2980944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Supplier details are never in a buyer-issued RFQ by definition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0" y="3282696"/>
            <a:ext cx="6035040" cy="566928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0" y="333756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payment_terms: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42632" y="33375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null  (left blank)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54312" y="3337560"/>
            <a:ext cx="1328166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81743" y="3346704"/>
            <a:ext cx="12733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MISSING DEFAULT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720" y="3593592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Net 30 (industry standard) not applied — ERP record incomplete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0" y="3895344"/>
            <a:ext cx="6035040" cy="566928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0" y="39502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governing_law: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42632" y="39502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null  (left blank)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54312" y="3950208"/>
            <a:ext cx="1328166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81743" y="3959352"/>
            <a:ext cx="12733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MISSING DEFAULT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0720" y="4206240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Laws of Japan not added — 5 more domain defaults also missing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0" y="4507992"/>
            <a:ext cx="6035040" cy="566928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60720" y="45628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fields_filled: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42632" y="456285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45  (of 55 expected)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54312" y="4562856"/>
            <a:ext cx="1088136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81743" y="45720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LOW COVERAGE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0720" y="4818888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No domain defaults applied — record needs manual completion before ERP use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" y="5376672"/>
            <a:ext cx="11420856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5394960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PIPELINE B METRICS  (2-Agent Direct — Suzuki Sekkei Japanese RFQ)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4048" y="5705856"/>
            <a:ext cx="2560320" cy="960120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2064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F1 Score  (extraction accuracy)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2064" y="6035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262A"/>
                </a:solidFill>
              </a:rPr>
              <a:t>0.83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37560" y="5705856"/>
            <a:ext cx="2560320" cy="960120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65576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Hallucination Rate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65576" y="6035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262A"/>
                </a:solidFill>
              </a:rPr>
              <a:t>15%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91072" y="5705856"/>
            <a:ext cx="2560320" cy="960120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19088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Confidence Score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19088" y="6035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262A"/>
                </a:solidFill>
              </a:rPr>
              <a:t>64%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44584" y="5705856"/>
            <a:ext cx="2560320" cy="960120"/>
          </a:xfrm>
          <a:prstGeom prst="rect">
            <a:avLst/>
          </a:prstGeom>
          <a:solidFill>
            <a:srgbClr val="E6F7EC"/>
          </a:solidFill>
          <a:ln w="1270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72600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Faithfulness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72600" y="6035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873E"/>
                </a:solidFill>
              </a:rPr>
              <a:t>0.95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DSPy Orchestrator in Action: Same Email, Structured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0BF"/>
                </a:solidFill>
              </a:rPr>
              <a:t>Genuine results: 55 fields filled, 7 domain defaults, only 2 real NEEDS_INPUT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24128"/>
            <a:ext cx="4937760" cy="2633472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4937760" cy="310896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0698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SAME EMAIL  (Suzuki Sekkei — japanese_email_test.json)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26464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From: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264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yamamoto.kenta@suzuki-sekkei.co.jp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69621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Subject: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96212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[Urgent] 6-axis arc welding robot RFQ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965960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18 units — FANUC M-10iA/12 or Yaskawa MA1440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235708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Budget: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3570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JPY 220,000,000 (excl. tax) — delivery incl.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505456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Phases: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05456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6+6+6 units: Sep/Nov 2026, Jan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775204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AMC: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7752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Min. 3 years — scope NOT defined in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3044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Bid by: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044952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June 20, 2026  17:00 JST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314700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Contact: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314700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 Kenta [山本健太] — Procurement Mgr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3749039"/>
            <a:ext cx="4937760" cy="1042415"/>
          </a:xfrm>
          <a:prstGeom prst="rect">
            <a:avLst/>
          </a:prstGeom>
          <a:solidFill>
            <a:srgbClr val="FEF3E0"/>
          </a:solidFill>
          <a:ln w="9525">
            <a:solidFill>
              <a:srgbClr val="B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794760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35A00"/>
                </a:solidFill>
              </a:rPr>
              <a:t>Real Risks in Email  (NEITHER pipeline fully flagged all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4078224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X  AMC scope and inclusions completely undefined in 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4297680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X  Budget excludes 2% consumption tax — clarification needed in bid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517136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X  No RFQ reference number — bid tracking at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59552" y="1024128"/>
            <a:ext cx="623620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59552" y="1024128"/>
            <a:ext cx="6236208" cy="31089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1069848"/>
            <a:ext cx="6053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DSPY ORCHESTRATOR OUTPUT  (Pipeline A — actual extracted values)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14447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14904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buyer_company: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14904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Suzuki Sekkei Co., Ltd.  [鈴木設計株式会社]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66576" y="14904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7876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18333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budget: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18333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JPY 220,000,000 (excl. tax) — delivery incl., AMC separate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66576" y="18333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21305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21762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quantity: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21762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18 units — 3-phase delivery (6+6+6)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66576" y="21762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24734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25191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delivery_phase1: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25191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September 15, 2026  [2026年9月15日]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66576" y="25191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28163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28620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payment_terms: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28620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Net 30  (industry standard — domain default applied)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66576" y="28620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31592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32049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governing_law: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32049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Laws of Japan  (domain default applied)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66576" y="32049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35021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35478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contact_email: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35478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yamamoto.kenta@suzuki-sekkei.co.jp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66576" y="35478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38450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0" y="38907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robot_model: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38907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FANUC M-10iA/12 or Yaskawa Motoman MA1440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66576" y="38907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0" y="41879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0" y="42336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bid_deadline: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42336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June 20, 2026  17:00 JST  [2026年6月20日]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66576" y="42336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9552" y="4736592"/>
            <a:ext cx="6236208" cy="310896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14416" y="479145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44384" y="479145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2-Agent Direct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73184" y="47914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DSPy Orchestrator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37392" y="4791456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Delta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9552" y="5047488"/>
            <a:ext cx="623620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14416" y="512064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F1 Score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44384" y="512064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0.83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73184" y="51206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0.87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82528" y="5102352"/>
            <a:ext cx="676656" cy="23774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082528" y="510235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+5%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59552" y="5413248"/>
            <a:ext cx="6236208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14416" y="548640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Hallucination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44384" y="548640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15%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73184" y="548640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082528" y="5468112"/>
            <a:ext cx="676656" cy="23774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082528" y="546811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-47%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59552" y="5779008"/>
            <a:ext cx="623620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14416" y="58521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Confidence Score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44384" y="585216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64%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73184" y="585216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79%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082528" y="5833872"/>
            <a:ext cx="676656" cy="23774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082528" y="583387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+23%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59552" y="6144768"/>
            <a:ext cx="6236208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614416" y="621792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Faithfulness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44384" y="621792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0.95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73184" y="621792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35A00"/>
                </a:solidFill>
              </a:rPr>
              <a:t>0.92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082528" y="6199632"/>
            <a:ext cx="676656" cy="237744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082528" y="619963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-3%*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14416" y="6217920"/>
            <a:ext cx="6144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BABAB"/>
                </a:solidFill>
              </a:rPr>
              <a:t>* Faithfulness 0.95 vs 0.92: 2-Agent Direct wins (readable dates, Japanese traceability brackets)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4048" y="4736592"/>
            <a:ext cx="4937760" cy="512064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12064" y="47914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73E"/>
                </a:solidFill>
              </a:rPr>
              <a:t>Pipeline A (DSPy):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95728" y="4791456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73E"/>
                </a:solidFill>
              </a:rPr>
              <a:t>79% Confidence  |  55 Fields  |  7 Domain Defaults  |  2 Genuine NEEDS_INPUT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0BF"/>
                </a:solidFill>
              </a:rPr>
              <a:t>Genuine findings from Japanese RFQ test — Suzuki Sekkei Co., Ltd. [鈴木設計株式会社]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60704"/>
            <a:ext cx="5413248" cy="34747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247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Current Challenges  (2-Agent Direct — Pipeline B)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060704"/>
            <a:ext cx="5559552" cy="34747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247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How DSPy Addresses Them  (Pipeline 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060704"/>
            <a:ext cx="54864" cy="49194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17904"/>
            <a:ext cx="5413248" cy="1353312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517904"/>
            <a:ext cx="182880" cy="13533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09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Schema Inflation: 12 Phantom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9385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2-Agent Direct created responding_party + secondary_contact sections with 12 NEEDS_INPUT for vendor data that does not belong in a buyer-side RFQ. Only 2 of 14 reported NEEDS_INPUT were real gaps. Confidence: 64%.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517904"/>
            <a:ext cx="5559552" cy="1353312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517904"/>
            <a:ext cx="182880" cy="13533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6093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DSPy Audit Eliminates Phantom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93852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AuditSignature validates every field against the source email. Zero phantom sections created — only 2 genuine NEEDS_INPUT (rfq_id, ref no.) vs 12 self-inflicted by 2-Agent Direct. F1 Score: 0.87 vs 0.83. Confidence: 79% vs 64%.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980944"/>
            <a:ext cx="5413248" cy="1353312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2980944"/>
            <a:ext cx="182880" cy="13533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723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No Domain Intelligence Applied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0156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Zero domain defaults added — payment_terms, governing_law, JCAA arbitration, force_majeure, bid_validity_days all left blank. Only 45 of 55 expected fields filled. Record needs manual completion before ERP processing.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980944"/>
            <a:ext cx="5559552" cy="1353312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980944"/>
            <a:ext cx="182880" cy="13533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0723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7 Domain Defaults Auto-Applied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40156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DSPy fills industry-standard fields automatically: Net 30 payment terms, Laws of Japan, JCAA arbitration, force_majeure clause, bid_validity_days (90 days). 55 fields filled vs 45 — ERP record is actionable today. +15pp confidence gain.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443984"/>
            <a:ext cx="5413248" cy="1353312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4443984"/>
            <a:ext cx="182880" cy="13533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5354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Risk Blind Spot — Critical for Both Pipelines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86460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Neither pipeline flagged all 3 real procurement risks: undefined AMC scope, budget excludes 2% consumption tax, no RFQ reference number. This is the #1 improvement target before any production deployment.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4443984"/>
            <a:ext cx="5559552" cy="1353312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4443984"/>
            <a:ext cx="182880" cy="13533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45354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Next Step: Dedicated Risk Signature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86460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DSPy reduces hallucination to 8% (vs 15%) and wins F1, Confidence, and Hallucination metrics. Faithfulness: 2-Agent wins (0.95 vs 0.92) via readable dates and Japanese brackets. Add RiskSignature to catch AMC, tax, and ref gaps.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5522976"/>
            <a:ext cx="11420856" cy="34747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5595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GENUINE RESULTS  (Japanese RFQ — Suzuki Sekkei)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907024"/>
            <a:ext cx="222930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F1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0.83  to  0.87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83003" y="5943600"/>
            <a:ext cx="530352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3003" y="595274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+5%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68219" y="5907024"/>
            <a:ext cx="222930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59659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Hallucination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59659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15%  to  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67174" y="5943600"/>
            <a:ext cx="530352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67174" y="595274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-47%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2390" y="5907024"/>
            <a:ext cx="222930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3830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Confidence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3830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64%  to  79%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51345" y="5943600"/>
            <a:ext cx="530352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51345" y="595274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+23%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36561" y="5907024"/>
            <a:ext cx="222930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28001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Faithfulness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28001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0.95 (B) / 0.92 (A)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5516" y="5943600"/>
            <a:ext cx="530352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35516" y="595274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 +3pp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20732" y="5907024"/>
            <a:ext cx="222930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12172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Integration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12172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OpenAI Agent SDK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219688" y="5943600"/>
            <a:ext cx="530352" cy="219456"/>
          </a:xfrm>
          <a:prstGeom prst="rect">
            <a:avLst/>
          </a:prstGeom>
          <a:solidFill>
            <a:srgbClr val="186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19688" y="595274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odapt Template" id="{BEA06CDB-37E2-4EB1-900A-1551629CEA0E}" vid="{BBDB73F9-D2B3-48F7-985A-E3E6915AEB01}"/>
    </a:ext>
  </a:extLst>
</a:theme>
</file>

<file path=ppt/theme/theme2.xml><?xml version="1.0" encoding="utf-8"?>
<a:theme xmlns:a="http://schemas.openxmlformats.org/drawingml/2006/main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esentation1" id="{F15BEDC6-FB48-47A5-80AF-B11DDDEE5AA1}" vid="{08D7E6E7-F3BD-41C5-BA27-B03C5328B8B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07E57A-CA57-4777-9559-C7DC9DFFE602}">
  <we:reference id="f5f369e5-aa35-49d7-ad7b-638152ddb008" version="1.0.0.1" store="excatalog" storeType="excatalog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539141-1d24-469a-8c72-ac806e3c9d09">
      <Terms xmlns="http://schemas.microsoft.com/office/infopath/2007/PartnerControls"/>
    </lcf76f155ced4ddcb4097134ff3c332f>
    <TaxCatchAll xmlns="d094aa81-11af-402c-8a55-d570af07a0a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562D50054BE4089858ABA81ECFE52" ma:contentTypeVersion="12" ma:contentTypeDescription="Create a new document." ma:contentTypeScope="" ma:versionID="916f91e18bc73d2a72e51933fb9a2e2c">
  <xsd:schema xmlns:xsd="http://www.w3.org/2001/XMLSchema" xmlns:xs="http://www.w3.org/2001/XMLSchema" xmlns:p="http://schemas.microsoft.com/office/2006/metadata/properties" xmlns:ns2="b2539141-1d24-469a-8c72-ac806e3c9d09" xmlns:ns3="d094aa81-11af-402c-8a55-d570af07a0a0" targetNamespace="http://schemas.microsoft.com/office/2006/metadata/properties" ma:root="true" ma:fieldsID="4866675fb9fbe3cf38b39c7212216526" ns2:_="" ns3:_="">
    <xsd:import namespace="b2539141-1d24-469a-8c72-ac806e3c9d09"/>
    <xsd:import namespace="d094aa81-11af-402c-8a55-d570af07a0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39141-1d24-469a-8c72-ac806e3c9d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7f86abb-38d7-41bf-bac4-7745b1ce4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94aa81-11af-402c-8a55-d570af07a0a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32cf5fc-88d0-46ca-a8f5-356c383ddebb}" ma:internalName="TaxCatchAll" ma:showField="CatchAllData" ma:web="d094aa81-11af-402c-8a55-d570af07a0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CF3A99-51F0-43A9-87E1-C8A5C1302A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6E059C-EB5A-4ADE-85E0-7FB6777C39D8}">
  <ds:schemaRefs>
    <ds:schemaRef ds:uri="b2539141-1d24-469a-8c72-ac806e3c9d0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094aa81-11af-402c-8a55-d570af07a0a0"/>
  </ds:schemaRefs>
</ds:datastoreItem>
</file>

<file path=customXml/itemProps3.xml><?xml version="1.0" encoding="utf-8"?>
<ds:datastoreItem xmlns:ds="http://schemas.openxmlformats.org/officeDocument/2006/customXml" ds:itemID="{547996D4-D8DF-4F6A-9496-56D6C65F8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539141-1d24-469a-8c72-ac806e3c9d09"/>
    <ds:schemaRef ds:uri="d094aa81-11af-402c-8a55-d570af07a0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1_Theme - Prodapt PPT</vt:lpstr>
      <vt:lpstr>Theme - Prodapt PPT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P</dc:creator>
  <cp:revision>17</cp:revision>
  <dcterms:created xsi:type="dcterms:W3CDTF">2026-05-08T09:09:19Z</dcterms:created>
  <dcterms:modified xsi:type="dcterms:W3CDTF">2026-05-29T07:17:35Z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0x010100C2F562D50054BE4089858ABA81ECFE52</vt:lpwstr>
  </property>
  <property fmtid="{D5CDD505-2E9C-101B-9397-08002B2CF9AE}" pid="3" name="MediaServiceImageTags">
    <vt:lpwstr/>
  </property>
</Properties>
</file>