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  <p:sldMasterId id="2147483750" r:id="rId5"/>
  </p:sldMasterIdLst>
  <p:notesMasterIdLst>
    <p:notesMasterId r:id="rId10"/>
  </p:notesMasterIdLst>
  <p:sldIdLst>
    <p:sldId id="256" r:id="rId6"/>
    <p:sldId id="259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2AFF5A-2083-D091-ABFA-B815C2A8EA9E}" v="67" dt="2026-05-29T09:00:36.476"/>
    <p1510:client id="{66932480-AB4D-BA81-F02D-7E861F173148}" v="29" dt="2026-05-29T07:17:12.807"/>
    <p1510:client id="{7C90FD71-30D7-9D8D-9939-ABB2FE1C8046}" v="539" dt="2026-05-29T09:21:13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AC9AB-10AF-43D4-938D-CAE13FA68035}" type="datetimeFigureOut">
              <a:rPr lang="en-IN" smtClean="0"/>
              <a:t>29-05-2026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6932A8-3EB0-4B56-AF58-8A7129F901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06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dapt.com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svg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5.svg"/><Relationship Id="rId4" Type="http://schemas.openxmlformats.org/officeDocument/2006/relationships/image" Target="../media/image4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dapt.com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323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17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27514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22042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6771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26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86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6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building&#10;&#10;Description automatically generated">
            <a:extLst>
              <a:ext uri="{FF2B5EF4-FFF2-40B4-BE49-F238E27FC236}">
                <a16:creationId xmlns:a16="http://schemas.microsoft.com/office/drawing/2014/main" id="{4B25582B-329F-41DD-0BF1-85B6B7765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251427" cy="68614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32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747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395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8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74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21495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80363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1248323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28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7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1560472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13995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9958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251862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492190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71580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926783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3441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78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85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4358156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134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8235551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5288218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986325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4438052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164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953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0367903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996" y="1326117"/>
            <a:ext cx="5606503" cy="4926328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88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Number slide with description</a:t>
            </a:r>
            <a:endParaRPr lang="en-US"/>
          </a:p>
        </p:txBody>
      </p:sp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09" y="1326118"/>
            <a:ext cx="5710095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28457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142625380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5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877199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52346-C729-51FF-6BCA-DC8D7ECE557F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22" y="2746375"/>
            <a:ext cx="5538631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763810" y="3146613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35841122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A81D3-18CE-82FC-ADE6-5919A049965B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21" y="2"/>
            <a:ext cx="544283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2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20" y="2746375"/>
            <a:ext cx="5564757" cy="1365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1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925099" y="3195019"/>
            <a:ext cx="1666955" cy="469004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846944" y="3128522"/>
            <a:ext cx="0" cy="60095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8245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7C79C-628A-AF06-854A-C11C3A41FB7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6404920" y="5452107"/>
            <a:ext cx="2011053" cy="565816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86663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317FDA-A70A-4812-2BEA-33ADB24C65FA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12166736" y="4081400"/>
            <a:ext cx="28800" cy="288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351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2678" y="2828837"/>
            <a:ext cx="5244049" cy="1354217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2678" y="4181351"/>
            <a:ext cx="5244049" cy="4247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2400">
                <a:solidFill>
                  <a:srgbClr val="FF0000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6414135" y="5416573"/>
            <a:ext cx="1921845" cy="600956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 sz="2400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sz="2400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8580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828866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5424601" cy="627888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31603879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CB97200-81EB-4386-55F6-4299CE1DDDBC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21" y="1"/>
            <a:ext cx="5521940" cy="68580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240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3841" y="-2"/>
            <a:ext cx="1788161" cy="1788161"/>
          </a:xfrm>
          <a:prstGeom prst="rect">
            <a:avLst/>
          </a:prstGeom>
        </p:spPr>
      </p:pic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208625"/>
            <a:ext cx="3410084" cy="70173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168714"/>
            <a:ext cx="5171477" cy="37965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514338" indent="-514338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867">
                <a:solidFill>
                  <a:schemeClr val="accent2"/>
                </a:solidFill>
              </a:defRPr>
            </a:lvl1pPr>
            <a:lvl2pPr marL="914377" indent="-457189">
              <a:buFont typeface="+mj-lt"/>
              <a:buAutoNum type="arabicPeriod"/>
              <a:defRPr/>
            </a:lvl2pPr>
            <a:lvl3pPr marL="1371566" indent="-457189">
              <a:buFont typeface="+mj-lt"/>
              <a:buAutoNum type="arabicPeriod"/>
              <a:defRPr/>
            </a:lvl3pPr>
            <a:lvl4pPr marL="1714457" indent="-342891">
              <a:buFont typeface="+mj-lt"/>
              <a:buAutoNum type="arabicPeriod"/>
              <a:defRPr/>
            </a:lvl4pPr>
            <a:lvl5pPr marL="2171646" indent="-342891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Line item 1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67BE0C30-213A-15F9-188A-CD56F0599474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accent1"/>
                </a:solidFill>
              </a:rPr>
              <a:pPr algn="ctr"/>
              <a:t>‹#›</a:t>
            </a:fld>
            <a:endParaRPr lang="en-US" sz="1333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2304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72" y="1"/>
            <a:ext cx="12196672" cy="68579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4802" y="3234598"/>
            <a:ext cx="6432551" cy="861775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44802" y="2786405"/>
            <a:ext cx="6432551" cy="461665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54703AD-E684-6B50-85E4-1D167B092F57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518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5467156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8133" y="5465812"/>
            <a:ext cx="12200133" cy="1392189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" y="3850640"/>
            <a:ext cx="12191999" cy="161782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3241040"/>
            <a:ext cx="12191999" cy="609597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282287-3AC5-176E-FE42-26BEFCC34E5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430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12251428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12251428" cy="68580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12251427" cy="68580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639155" y="1601914"/>
            <a:ext cx="1827087" cy="1827087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71029" y="2306317"/>
            <a:ext cx="7002000" cy="11226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71031" y="1696720"/>
            <a:ext cx="7002000" cy="609597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12D12-5556-C31B-CEB1-651713A77FC6}"/>
              </a:ext>
            </a:extLst>
          </p:cNvPr>
          <p:cNvSpPr txBox="1">
            <a:spLocks/>
          </p:cNvSpPr>
          <p:nvPr userDrawn="1"/>
        </p:nvSpPr>
        <p:spPr>
          <a:xfrm>
            <a:off x="78597" y="639128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bg2"/>
                </a:solidFill>
              </a:rPr>
              <a:pPr algn="ctr"/>
              <a:t>‹#›</a:t>
            </a:fld>
            <a:endParaRPr lang="en-US" sz="1333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7731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8133" y="-1340"/>
            <a:ext cx="12208285" cy="6859341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10810237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882" y="4511042"/>
            <a:ext cx="10810236" cy="164185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/>
              <a:t>Sub-section slide with image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59086DE5-A3C8-FCD6-3639-3F21F49AEB6C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6297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8133" y="-1340"/>
            <a:ext cx="12200132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42136" y="883916"/>
            <a:ext cx="4312845" cy="2527117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2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2752" y="702424"/>
            <a:ext cx="5413248" cy="5449131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642135" y="3500581"/>
            <a:ext cx="4312845" cy="247350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EB5B7FB-15D0-6923-FC89-7AEA41194BC1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14050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5202496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5202496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5369921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702734"/>
            <a:ext cx="10818283" cy="4500033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5912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BBBD31-B0FA-C258-A883-0CC339BDF236}"/>
              </a:ext>
            </a:extLst>
          </p:cNvPr>
          <p:cNvSpPr/>
          <p:nvPr userDrawn="1"/>
        </p:nvSpPr>
        <p:spPr>
          <a:xfrm>
            <a:off x="0" y="6314427"/>
            <a:ext cx="12192000" cy="522495"/>
          </a:xfrm>
          <a:prstGeom prst="rect">
            <a:avLst/>
          </a:prstGeom>
          <a:solidFill>
            <a:schemeClr val="bg2"/>
          </a:solidFill>
          <a:ln w="4233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IN" sz="24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" y="1"/>
            <a:ext cx="5445685" cy="68580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0200" y="5468497"/>
            <a:ext cx="6781800" cy="13895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0200" y="0"/>
            <a:ext cx="6781800" cy="2743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682751" y="703765"/>
            <a:ext cx="10818367" cy="5449131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682752" y="704833"/>
            <a:ext cx="10818365" cy="9504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7715" y="704833"/>
            <a:ext cx="1423403" cy="950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713" y="872258"/>
            <a:ext cx="92541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Sub-section slide with image</a:t>
            </a:r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83684" y="1667934"/>
            <a:ext cx="10818283" cy="4479071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image/smart art/table/video of your choice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6B83F919-6D01-FFE9-1663-CED55E89B359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chemeClr val="tx2"/>
                </a:solidFill>
              </a:rPr>
              <a:pPr algn="ctr"/>
              <a:t>‹#›</a:t>
            </a:fld>
            <a:endParaRPr lang="en-US" sz="1333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5741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</a:t>
            </a:r>
            <a:endParaRPr lang="en-US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0535" y="1326118"/>
            <a:ext cx="1043093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79967" y="1902889"/>
            <a:ext cx="10430931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4" name="Graphic 25">
            <a:extLst>
              <a:ext uri="{FF2B5EF4-FFF2-40B4-BE49-F238E27FC236}">
                <a16:creationId xmlns:a16="http://schemas.microsoft.com/office/drawing/2014/main" id="{6915B1DF-23E1-3CAE-9ECC-92B7021809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3921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A99F47B-DF0C-561B-F401-CC069746C1F4}"/>
              </a:ext>
            </a:extLst>
          </p:cNvPr>
          <p:cNvSpPr/>
          <p:nvPr userDrawn="1"/>
        </p:nvSpPr>
        <p:spPr>
          <a:xfrm>
            <a:off x="0" y="1"/>
            <a:ext cx="12192000" cy="1148721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2586982-0A1C-3B94-7C4C-63E07F94CBB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1573" y="-2"/>
            <a:ext cx="1720427" cy="11487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7" y="251286"/>
            <a:ext cx="10172577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Executive summary slide with image</a:t>
            </a:r>
            <a:endParaRPr lang="en-US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8687" y="1326118"/>
            <a:ext cx="698278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80533" y="1344562"/>
            <a:ext cx="3252852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28117" y="1902889"/>
            <a:ext cx="6982780" cy="43759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pic>
        <p:nvPicPr>
          <p:cNvPr id="15" name="Graphic 25">
            <a:extLst>
              <a:ext uri="{FF2B5EF4-FFF2-40B4-BE49-F238E27FC236}">
                <a16:creationId xmlns:a16="http://schemas.microsoft.com/office/drawing/2014/main" id="{5A0697C7-AD8E-B8D3-1887-117A709157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0" y="1086016"/>
            <a:ext cx="685800" cy="5284717"/>
          </a:xfrm>
          <a:prstGeom prst="rect">
            <a:avLst/>
          </a:prstGeom>
        </p:spPr>
      </p:pic>
      <p:pic>
        <p:nvPicPr>
          <p:cNvPr id="16" name="Graphic 25">
            <a:extLst>
              <a:ext uri="{FF2B5EF4-FFF2-40B4-BE49-F238E27FC236}">
                <a16:creationId xmlns:a16="http://schemas.microsoft.com/office/drawing/2014/main" id="{84E6A3DB-B0F0-F6CC-7AB9-D8D083FC85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b="2702"/>
          <a:stretch/>
        </p:blipFill>
        <p:spPr>
          <a:xfrm>
            <a:off x="11505064" y="1086016"/>
            <a:ext cx="685800" cy="528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687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79093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98996" y="3799004"/>
            <a:ext cx="5710096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5639190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167092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400" dirty="0" smtClean="0"/>
            </a:lvl1pPr>
            <a:lvl2pPr>
              <a:defRPr lang="en-US" sz="1400" dirty="0" smtClean="0"/>
            </a:lvl2pPr>
            <a:lvl3pPr>
              <a:defRPr lang="en-US" sz="1333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34953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98997" y="3799004"/>
            <a:ext cx="3722097" cy="13626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3244510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1350359"/>
            <a:ext cx="2765981" cy="37899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3380343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323716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9267089" y="1899921"/>
            <a:ext cx="2490035" cy="312928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392381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7632001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5124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339616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7734508" y="3782732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377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632001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3242370" y="1350360"/>
            <a:ext cx="4263097" cy="18151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6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7734508" y="1829099"/>
            <a:ext cx="4077185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95027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5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9129116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5328542"/>
            <a:ext cx="12192000" cy="94853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64727" y="5488201"/>
            <a:ext cx="10075744" cy="62921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Highlighted text to make a point/impact</a:t>
            </a:r>
            <a:endParaRPr lang="en-IN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8597" y="5328541"/>
            <a:ext cx="1423403" cy="9504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42370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185743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129116" y="3323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225709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628233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98997" y="3363495"/>
            <a:ext cx="2763889" cy="17768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98997" y="1357687"/>
            <a:ext cx="2763889" cy="19052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242370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185743" y="1355255"/>
            <a:ext cx="2765981" cy="181704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3339615" y="380013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9225709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28233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3339615" y="1829099"/>
            <a:ext cx="2572799" cy="12290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57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2 image blocks slide with description </a:t>
            </a:r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6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80365" y="3799004"/>
            <a:ext cx="5710096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180365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98996" y="1326118"/>
            <a:ext cx="5710096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85068903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image blocks slide with description </a:t>
            </a:r>
            <a:endParaRPr 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8997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23495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67093" y="1326118"/>
            <a:ext cx="3722097" cy="247288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997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3495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67093" y="3799004"/>
            <a:ext cx="3722097" cy="25077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2641669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3-step/block content slide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24768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061124" y="1350359"/>
            <a:ext cx="3696000" cy="488788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75686"/>
            <a:ext cx="3485204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35858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8172020" y="1875686"/>
            <a:ext cx="3474208" cy="4199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CC18FA-EF4F-F8F1-2F9F-EF80454C404E}"/>
              </a:ext>
            </a:extLst>
          </p:cNvPr>
          <p:cNvGrpSpPr/>
          <p:nvPr userDrawn="1"/>
        </p:nvGrpSpPr>
        <p:grpSpPr>
          <a:xfrm>
            <a:off x="78597" y="6402841"/>
            <a:ext cx="11988096" cy="404369"/>
            <a:chOff x="58948" y="4802130"/>
            <a:chExt cx="8991072" cy="303277"/>
          </a:xfrm>
        </p:grpSpPr>
        <p:sp>
          <p:nvSpPr>
            <p:cNvPr id="5" name="Slide Number Placeholder 6">
              <a:extLst>
                <a:ext uri="{FF2B5EF4-FFF2-40B4-BE49-F238E27FC236}">
                  <a16:creationId xmlns:a16="http://schemas.microsoft.com/office/drawing/2014/main" id="{A92CB433-F15F-FDAF-B50D-04F63CFB320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8948" y="4831563"/>
              <a:ext cx="360098" cy="273844"/>
            </a:xfrm>
            <a:prstGeom prst="rect">
              <a:avLst/>
            </a:prstGeom>
          </p:spPr>
          <p:txBody>
            <a:bodyPr vert="horz" lIns="68580" tIns="34290" rIns="68580" bIns="3429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fld id="{2B60C70C-E473-9E49-863B-88FCC598397C}" type="slidenum">
                <a:rPr lang="en-US" sz="1333" smtClean="0">
                  <a:solidFill>
                    <a:srgbClr val="EB262A"/>
                  </a:solidFill>
                </a:rPr>
                <a:pPr algn="ctr"/>
                <a:t>‹#›</a:t>
              </a:fld>
              <a:endParaRPr lang="en-US" sz="1333">
                <a:solidFill>
                  <a:srgbClr val="EB262A"/>
                </a:solidFill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4960893-924E-049E-7F97-39F9333BF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97640" y="4865834"/>
              <a:ext cx="752380" cy="203702"/>
            </a:xfrm>
            <a:prstGeom prst="rect">
              <a:avLst/>
            </a:prstGeom>
          </p:spPr>
        </p:pic>
        <p:pic>
          <p:nvPicPr>
            <p:cNvPr id="9" name="Graphic 25">
              <a:extLst>
                <a:ext uri="{FF2B5EF4-FFF2-40B4-BE49-F238E27FC236}">
                  <a16:creationId xmlns:a16="http://schemas.microsoft.com/office/drawing/2014/main" id="{F839B3CA-3FB5-E3D8-8BC2-F1F815C6E6E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7036" b="2702"/>
            <a:stretch/>
          </p:blipFill>
          <p:spPr>
            <a:xfrm rot="16200000">
              <a:off x="2316279" y="2960286"/>
              <a:ext cx="220984" cy="3963538"/>
            </a:xfrm>
            <a:prstGeom prst="rect">
              <a:avLst/>
            </a:prstGeom>
          </p:spPr>
        </p:pic>
        <p:pic>
          <p:nvPicPr>
            <p:cNvPr id="10" name="Graphic 25">
              <a:extLst>
                <a:ext uri="{FF2B5EF4-FFF2-40B4-BE49-F238E27FC236}">
                  <a16:creationId xmlns:a16="http://schemas.microsoft.com/office/drawing/2014/main" id="{CBB4066B-4CE9-37B2-FB1A-7245971CB40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02" r="50862" b="2702"/>
            <a:stretch/>
          </p:blipFill>
          <p:spPr>
            <a:xfrm rot="16200000">
              <a:off x="6147241" y="2946731"/>
              <a:ext cx="252739" cy="3963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591718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4-step/block content slide</a:t>
            </a:r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55367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434243" y="3842547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154124" y="3842547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2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6250161" y="4347555"/>
            <a:ext cx="5403959" cy="177892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59329717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768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5-step/block content slide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69281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2406" y="4332496"/>
            <a:ext cx="3453439" cy="17939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1124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9643" y="4337395"/>
            <a:ext cx="3476547" cy="17887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4243" y="1350359"/>
            <a:ext cx="5602440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154124" y="1350359"/>
            <a:ext cx="5603001" cy="24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642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6250161" y="1845207"/>
            <a:ext cx="5403959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8892234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34243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424679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8060236" y="38382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34243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4679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060236" y="1349037"/>
            <a:ext cx="3696000" cy="24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6-step/block content slide</a:t>
            </a:r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370750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8181518" y="4322336"/>
            <a:ext cx="3453439" cy="18041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38755" y="4327235"/>
            <a:ext cx="3476547" cy="179924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370750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8181518" y="1833136"/>
            <a:ext cx="3453439" cy="1684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538755" y="1838035"/>
            <a:ext cx="3476547" cy="16800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899062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image</a:t>
            </a:r>
            <a:endParaRPr lang="en-US"/>
          </a:p>
        </p:txBody>
      </p:sp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2" y="1326118"/>
            <a:ext cx="5710093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1326118"/>
            <a:ext cx="5943600" cy="4934317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867">
                <a:solidFill>
                  <a:schemeClr val="tx1"/>
                </a:solidFill>
              </a:defRPr>
            </a:lvl1pPr>
          </a:lstStyle>
          <a:p>
            <a:r>
              <a:rPr lang="en-IN"/>
              <a:t>Click the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488539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10340837" y="6402842"/>
            <a:ext cx="1494057" cy="360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Slide with text only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8" y="1326118"/>
            <a:ext cx="11594007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98997" y="1924575"/>
            <a:ext cx="11594009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6617493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 </a:t>
            </a:r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096000" y="1303610"/>
            <a:ext cx="5797005" cy="4956825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867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532005"/>
            <a:ext cx="6096000" cy="450003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958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Single text block slide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2913" y="1346082"/>
            <a:ext cx="5710092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82912" y="1924575"/>
            <a:ext cx="5710093" cy="4335860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" y="1346082"/>
            <a:ext cx="6009089" cy="4914353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57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42900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3891280"/>
            <a:ext cx="3744001" cy="236915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4" y="1300481"/>
            <a:ext cx="11594012" cy="194687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4515081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3 text blocks slide</a:t>
            </a:r>
            <a:endParaRPr lang="en-US"/>
          </a:p>
        </p:txBody>
      </p:sp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993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24000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49007" y="3622040"/>
            <a:ext cx="3744000" cy="36512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 b="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8149005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4224001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18344"/>
            <a:ext cx="3744001" cy="214209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10160" y="1299039"/>
            <a:ext cx="12192005" cy="2129963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867" dirty="0" smtClean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corresponding icon to insert the image/smart art/table/video of your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95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4-block slide</a:t>
            </a:r>
            <a:endParaRPr lang="en-US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7570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4233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8710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31879" y="3504770"/>
            <a:ext cx="2762551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24233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6187108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913187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97569" y="1350868"/>
            <a:ext cx="2016000" cy="201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856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242340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4120950"/>
            <a:ext cx="2761127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132589" y="4120950"/>
            <a:ext cx="2761128" cy="213948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607359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49812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9813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467" dirty="0" smtClean="0"/>
            </a:lvl1pPr>
            <a:lvl4pPr>
              <a:defRPr lang="en-IN" sz="16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  <a:p>
            <a:pPr lvl="3"/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88297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88297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749812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749813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2870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4178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467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551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27459"/>
            <a:ext cx="2239680" cy="1020941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6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4" y="1344783"/>
            <a:ext cx="11603575" cy="150300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0161206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6-block slide</a:t>
            </a:r>
            <a:endParaRPr lang="en-US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718286" y="304824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718288" y="3536903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256772" y="3048246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4256772" y="473880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18286" y="4738802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18288" y="5227459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662887" y="3034480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662888" y="3523136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201372" y="303447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201372" y="4725035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662887" y="4725036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662888" y="5213692"/>
            <a:ext cx="2239680" cy="10209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718286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718288" y="1846347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4256772" y="1357689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662887" y="1350869"/>
            <a:ext cx="2240819" cy="407217"/>
          </a:xfrm>
          <a:prstGeom prst="rect">
            <a:avLst/>
          </a:prstGeom>
        </p:spPr>
        <p:txBody>
          <a:bodyPr anchor="b"/>
          <a:lstStyle>
            <a:lvl1pPr>
              <a:defRPr lang="en-IN" sz="1867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662888" y="1832580"/>
            <a:ext cx="2239680" cy="1020941"/>
          </a:xfrm>
          <a:prstGeom prst="rect">
            <a:avLst/>
          </a:prstGeom>
        </p:spPr>
        <p:txBody>
          <a:bodyPr/>
          <a:lstStyle>
            <a:lvl1pPr>
              <a:defRPr lang="en-US" sz="1467" dirty="0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8201372" y="1343922"/>
            <a:ext cx="1326608" cy="15095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33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98995" y="1344783"/>
            <a:ext cx="3744685" cy="238695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98995" y="3925424"/>
            <a:ext cx="3744685" cy="232297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00031446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Development stages slide</a:t>
            </a:r>
            <a:endParaRPr lang="en-US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0832" y="1943101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10032" y="1756370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89232" y="1600009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68432" y="1433223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7632" y="1275606"/>
            <a:ext cx="2016000" cy="615553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 5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0832" y="1943101"/>
            <a:ext cx="2016000" cy="363812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10032" y="1756370"/>
            <a:ext cx="2016000" cy="40392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89232" y="1600009"/>
            <a:ext cx="2016000" cy="435195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68432" y="1433224"/>
            <a:ext cx="2016000" cy="46838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47632" y="1275607"/>
            <a:ext cx="2016000" cy="50023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33370664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Steps/processes slide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8996" y="3763197"/>
            <a:ext cx="2400000" cy="577797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4529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0063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85596" y="3763197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81128" y="3785615"/>
            <a:ext cx="2400000" cy="577797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6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9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989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89730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899663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190397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81129" y="4507993"/>
            <a:ext cx="2117548" cy="40944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867" b="0" dirty="0">
                <a:solidFill>
                  <a:schemeClr val="accent1"/>
                </a:solidFill>
              </a:defRPr>
            </a:lvl1pPr>
            <a:lvl2pPr>
              <a:defRPr sz="1867"/>
            </a:lvl2pPr>
            <a:lvl3pPr>
              <a:defRPr sz="1867"/>
            </a:lvl3pPr>
            <a:lvl4pPr>
              <a:defRPr sz="1600"/>
            </a:lvl4pPr>
            <a:lvl5pPr>
              <a:defRPr sz="1600"/>
            </a:lvl5pPr>
          </a:lstStyle>
          <a:p>
            <a:pPr marL="239994" lvl="0" indent="-239994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</a:pPr>
            <a:r>
              <a:rPr lang="en-IN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2608929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4899663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190396" y="2548703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481128" y="2526285"/>
            <a:ext cx="1056000" cy="1056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1067" dirty="0"/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Click the icon to insert the image of your choice</a:t>
            </a:r>
            <a:endParaRPr lang="en-US"/>
          </a:p>
          <a:p>
            <a:endParaRPr lang="en-IN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989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589730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899663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90397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9481129" y="4917436"/>
            <a:ext cx="2117548" cy="133096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457189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Clr>
                <a:schemeClr val="accent1"/>
              </a:buClr>
              <a:buFont typeface="Wingdings" panose="05000000000000000000" pitchFamily="2" charset="2"/>
              <a:buNone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marL="685783" lvl="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/>
              <a:t>Level 2</a:t>
            </a:r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3639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Timeline slide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756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3183303"/>
            <a:ext cx="12192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1082164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116093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3756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50187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2</a:t>
            </a:r>
            <a:endParaRPr lang="en-IN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3358595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3437368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54280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4805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3</a:t>
            </a:r>
            <a:endParaRPr lang="en-IN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5643213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5721987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34804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15328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4</a:t>
            </a:r>
            <a:endParaRPr lang="en-IN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7923736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8002509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15328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95851" y="2528703"/>
            <a:ext cx="1160816" cy="47366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2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5</a:t>
            </a:r>
            <a:endParaRPr lang="en-IN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10204259" y="3111304"/>
            <a:ext cx="144000" cy="144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chemeClr val="accent1"/>
                </a:solidFill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Year 1</a:t>
            </a:r>
            <a:endParaRPr lang="en-IN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10283032" y="3358863"/>
            <a:ext cx="0" cy="48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33">
                <a:noFill/>
              </a:defRPr>
            </a:lvl1pPr>
            <a:lvl2pPr marL="457189" indent="0">
              <a:buNone/>
              <a:defRPr sz="2667"/>
            </a:lvl2pPr>
            <a:lvl3pPr marL="914377" indent="0">
              <a:buNone/>
              <a:defRPr sz="2133"/>
            </a:lvl3pPr>
            <a:lvl4pPr marL="1371566" indent="0">
              <a:buNone/>
              <a:defRPr sz="1867"/>
            </a:lvl4pPr>
            <a:lvl5pPr marL="1828754" indent="0">
              <a:buNone/>
              <a:defRPr sz="1867"/>
            </a:lvl5pPr>
          </a:lstStyle>
          <a:p>
            <a:pPr lvl="0"/>
            <a:r>
              <a:rPr lang="en-US"/>
              <a:t>1</a:t>
            </a:r>
            <a:endParaRPr lang="en-IN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95851" y="3906607"/>
            <a:ext cx="1941440" cy="21893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8997" y="1244208"/>
            <a:ext cx="11562931" cy="100840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67">
                <a:solidFill>
                  <a:schemeClr val="accent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3913921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Doughnut percentage slide</a:t>
            </a:r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9180038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9229022" y="1508648"/>
            <a:ext cx="1850317" cy="1850317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9444979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9800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9000395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6472195" y="1459664"/>
            <a:ext cx="1948285" cy="194828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6521179" y="1508648"/>
            <a:ext cx="1850317" cy="1850317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6737136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629195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6292552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3764947" y="1459664"/>
            <a:ext cx="1948285" cy="1948285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3813931" y="1508648"/>
            <a:ext cx="1850317" cy="1850317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4029888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867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3584709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3585304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1057104" y="1459664"/>
            <a:ext cx="1948285" cy="194828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1106088" y="1508648"/>
            <a:ext cx="1850317" cy="1850317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33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1322045" y="1724605"/>
            <a:ext cx="1418403" cy="1418403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867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876867" y="3591446"/>
            <a:ext cx="2308760" cy="4782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r>
              <a:rPr lang="en-IN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877461" y="4069724"/>
            <a:ext cx="2307571" cy="1940912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400"/>
            </a:lvl1pPr>
            <a:lvl2pPr marL="685783" indent="-228594">
              <a:buClr>
                <a:schemeClr val="accent2"/>
              </a:buClr>
              <a:buFont typeface="Courier New" panose="02070309020205020404" pitchFamily="49" charset="0"/>
              <a:buChar char="o"/>
              <a:defRPr sz="1400"/>
            </a:lvl2pPr>
            <a:lvl3pPr marL="1142971" indent="-228594">
              <a:buClr>
                <a:schemeClr val="accent1"/>
              </a:buClr>
              <a:buFont typeface="Wingdings" panose="05000000000000000000" pitchFamily="2" charset="2"/>
              <a:buChar char="§"/>
              <a:defRPr sz="1333"/>
            </a:lvl3pPr>
            <a:lvl4pPr>
              <a:buClr>
                <a:schemeClr val="accent1"/>
              </a:buClr>
              <a:defRPr sz="1333"/>
            </a:lvl4pPr>
            <a:lvl5pPr>
              <a:buClr>
                <a:schemeClr val="accent1"/>
              </a:buClr>
              <a:defRPr sz="1333"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This can be used as either bullets/ paragraph</a:t>
            </a:r>
          </a:p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0465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Question and answer slide</a:t>
            </a:r>
            <a:endParaRPr lang="en-US"/>
          </a:p>
        </p:txBody>
      </p:sp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7793" y="1028513"/>
            <a:ext cx="9165609" cy="227674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793" y="3533507"/>
            <a:ext cx="9165609" cy="279109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217489" y="97117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217489" y="3733341"/>
            <a:ext cx="2316660" cy="2391424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11733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5848498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4249" y="-1"/>
            <a:ext cx="1047752" cy="10477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8996" y="251286"/>
            <a:ext cx="10845253" cy="58477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/>
              <a:t>Blank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1436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6672" cy="68580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726" y="2733675"/>
            <a:ext cx="6432551" cy="1390651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5333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57500" y="4343401"/>
            <a:ext cx="6477000" cy="642619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189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377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566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754" indent="0">
              <a:buNone/>
              <a:defRPr sz="8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9464605" y="6118554"/>
            <a:ext cx="23935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333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333827" y="6118554"/>
            <a:ext cx="4053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 </a:t>
            </a: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Ver.3.1</a:t>
            </a:r>
            <a:endParaRPr lang="en-IN" sz="1333"/>
          </a:p>
        </p:txBody>
      </p:sp>
    </p:spTree>
    <p:extLst>
      <p:ext uri="{BB962C8B-B14F-4D97-AF65-F5344CB8AC3E}">
        <p14:creationId xmlns:p14="http://schemas.microsoft.com/office/powerpoint/2010/main" val="120967756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_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7681"/>
            <a:ext cx="10972797" cy="834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90371"/>
            <a:ext cx="10972800" cy="40912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6AFD79-82E1-C143-90F1-03BA0E48C0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1464300"/>
            <a:ext cx="10972799" cy="448733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0075C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2815943-AE4F-064C-8525-BBDDBB2F5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920" y="6389720"/>
            <a:ext cx="529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F35675F-94B7-49AB-A0D8-992424F99F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947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47" Type="http://schemas.openxmlformats.org/officeDocument/2006/relationships/image" Target="../media/image2.png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73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slideLayout" Target="../slideLayouts/slideLayout88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slideLayout" Target="../slideLayouts/slideLayout87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Relationship Id="rId46" Type="http://schemas.openxmlformats.org/officeDocument/2006/relationships/image" Target="../media/image1.svg"/><Relationship Id="rId20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1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  <p:sldLayoutId id="2147483738" r:id="rId33"/>
    <p:sldLayoutId id="2147483739" r:id="rId34"/>
    <p:sldLayoutId id="2147483740" r:id="rId35"/>
    <p:sldLayoutId id="2147483741" r:id="rId36"/>
    <p:sldLayoutId id="2147483742" r:id="rId37"/>
    <p:sldLayoutId id="2147483743" r:id="rId38"/>
    <p:sldLayoutId id="2147483744" r:id="rId39"/>
    <p:sldLayoutId id="2147483745" r:id="rId40"/>
    <p:sldLayoutId id="2147483746" r:id="rId41"/>
    <p:sldLayoutId id="2147483747" r:id="rId42"/>
    <p:sldLayoutId id="2147483748" r:id="rId43"/>
    <p:sldLayoutId id="2147483749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45414B8D-6CF3-48AD-4280-34DA9BE2D9AE}"/>
              </a:ext>
            </a:extLst>
          </p:cNvPr>
          <p:cNvSpPr txBox="1">
            <a:spLocks/>
          </p:cNvSpPr>
          <p:nvPr userDrawn="1"/>
        </p:nvSpPr>
        <p:spPr>
          <a:xfrm>
            <a:off x="78597" y="6411604"/>
            <a:ext cx="4801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333" smtClean="0">
                <a:solidFill>
                  <a:srgbClr val="EB262A"/>
                </a:solidFill>
              </a:rPr>
              <a:pPr algn="ctr"/>
              <a:t>‹#›</a:t>
            </a:fld>
            <a:endParaRPr lang="en-US" sz="1333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86818B-E81F-5F5A-1A89-BE8A74A4B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063520" y="6487779"/>
            <a:ext cx="1003173" cy="271603"/>
          </a:xfrm>
          <a:prstGeom prst="rect">
            <a:avLst/>
          </a:prstGeom>
        </p:spPr>
      </p:pic>
      <p:pic>
        <p:nvPicPr>
          <p:cNvPr id="5" name="Graphic 25">
            <a:extLst>
              <a:ext uri="{FF2B5EF4-FFF2-40B4-BE49-F238E27FC236}">
                <a16:creationId xmlns:a16="http://schemas.microsoft.com/office/drawing/2014/main" id="{101B3601-8A23-1D1B-B241-9591266980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2" r="57036" b="2702"/>
          <a:stretch/>
        </p:blipFill>
        <p:spPr>
          <a:xfrm rot="16200000">
            <a:off x="3088372" y="3947048"/>
            <a:ext cx="294645" cy="5284717"/>
          </a:xfrm>
          <a:prstGeom prst="rect">
            <a:avLst/>
          </a:prstGeom>
        </p:spPr>
      </p:pic>
      <p:pic>
        <p:nvPicPr>
          <p:cNvPr id="6" name="Graphic 25">
            <a:extLst>
              <a:ext uri="{FF2B5EF4-FFF2-40B4-BE49-F238E27FC236}">
                <a16:creationId xmlns:a16="http://schemas.microsoft.com/office/drawing/2014/main" id="{D48C92A5-2E58-5791-BDE2-A8F19AA3BC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24" r="50862" b="2702"/>
          <a:stretch/>
        </p:blipFill>
        <p:spPr>
          <a:xfrm rot="16200000">
            <a:off x="8247206" y="3979859"/>
            <a:ext cx="336985" cy="51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8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  <p:sldLayoutId id="2147483783" r:id="rId33"/>
    <p:sldLayoutId id="2147483784" r:id="rId34"/>
    <p:sldLayoutId id="2147483785" r:id="rId35"/>
    <p:sldLayoutId id="2147483786" r:id="rId36"/>
    <p:sldLayoutId id="2147483787" r:id="rId37"/>
    <p:sldLayoutId id="2147483788" r:id="rId38"/>
    <p:sldLayoutId id="2147483789" r:id="rId39"/>
    <p:sldLayoutId id="2147483790" r:id="rId40"/>
    <p:sldLayoutId id="2147483791" r:id="rId41"/>
    <p:sldLayoutId id="2147483792" r:id="rId42"/>
    <p:sldLayoutId id="2147483793" r:id="rId43"/>
    <p:sldLayoutId id="2147483794" r:id="rId4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301DD72F-31F8-6133-6F94-F01ADBA567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62678" y="3475168"/>
            <a:ext cx="5244049" cy="707886"/>
          </a:xfrm>
        </p:spPr>
        <p:txBody>
          <a:bodyPr lIns="91440" tIns="45720" rIns="91440" bIns="45720" anchor="b">
            <a:spAutoFit/>
          </a:bodyPr>
          <a:lstStyle/>
          <a:p>
            <a:r>
              <a:rPr lang="en-US" dirty="0" err="1">
                <a:solidFill>
                  <a:srgbClr val="1C1C1C"/>
                </a:solidFill>
                <a:ea typeface="+mn-lt"/>
                <a:cs typeface="+mn-lt"/>
              </a:rPr>
              <a:t>DSPy</a:t>
            </a:r>
            <a:r>
              <a:rPr lang="en-US" dirty="0">
                <a:solidFill>
                  <a:srgbClr val="1C1C1C"/>
                </a:solidFill>
                <a:ea typeface="+mn-lt"/>
                <a:cs typeface="+mn-lt"/>
              </a:rPr>
              <a:t> vs No-</a:t>
            </a:r>
            <a:r>
              <a:rPr lang="en-US" dirty="0" err="1">
                <a:solidFill>
                  <a:srgbClr val="1C1C1C"/>
                </a:solidFill>
                <a:ea typeface="+mn-lt"/>
                <a:cs typeface="+mn-lt"/>
              </a:rPr>
              <a:t>DSPy</a:t>
            </a:r>
            <a:endParaRPr lang="en-US" dirty="0" err="1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CFA88AAC-8879-CBE6-413A-A44E57E6D2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62678" y="4181351"/>
            <a:ext cx="5244049" cy="424732"/>
          </a:xfrm>
        </p:spPr>
        <p:txBody>
          <a:bodyPr lIns="91440" tIns="45720" rIns="91440" bIns="4572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A Comparative Evaluation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2039B-5D03-0A01-7AA0-7D4B860F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65F4-CD4A-2C83-E51F-C01A693D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96" y="251286"/>
            <a:ext cx="10845253" cy="461665"/>
          </a:xfr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dirty="0">
                <a:cs typeface="Arial"/>
              </a:rPr>
              <a:t>No-</a:t>
            </a:r>
            <a:r>
              <a:rPr lang="en-US" sz="2400" dirty="0" err="1">
                <a:cs typeface="Arial"/>
              </a:rPr>
              <a:t>DSPy</a:t>
            </a:r>
            <a:r>
              <a:rPr lang="en-US" sz="2400" dirty="0">
                <a:cs typeface="Arial"/>
              </a:rPr>
              <a:t> Implementations and observations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59E3C-9B6A-70A3-1CA1-BE669F523813}"/>
              </a:ext>
            </a:extLst>
          </p:cNvPr>
          <p:cNvSpPr txBox="1"/>
          <p:nvPr/>
        </p:nvSpPr>
        <p:spPr>
          <a:xfrm>
            <a:off x="401584" y="713865"/>
            <a:ext cx="105156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>
                <a:solidFill>
                  <a:schemeClr val="accent1">
                    <a:lumMod val="76000"/>
                  </a:schemeClr>
                </a:solidFill>
              </a:rPr>
              <a:t>Schema inflation, missing domain fills, and wrong risk flags — genuine results from notebook run</a:t>
            </a:r>
            <a:endParaRPr lang="en-US" sz="1000" b="0" i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D0E8D-AE0A-A5CD-0AE1-01F935CDFF30}"/>
              </a:ext>
            </a:extLst>
          </p:cNvPr>
          <p:cNvSpPr/>
          <p:nvPr/>
        </p:nvSpPr>
        <p:spPr>
          <a:xfrm>
            <a:off x="384048" y="1024128"/>
            <a:ext cx="4937760" cy="4251960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1E8F1-66FF-49E6-DFFB-A1B2068DC63D}"/>
              </a:ext>
            </a:extLst>
          </p:cNvPr>
          <p:cNvSpPr/>
          <p:nvPr/>
        </p:nvSpPr>
        <p:spPr>
          <a:xfrm>
            <a:off x="384048" y="1024128"/>
            <a:ext cx="4937760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34E04-141B-92E9-6AD5-CA389E1E7EAD}"/>
              </a:ext>
            </a:extLst>
          </p:cNvPr>
          <p:cNvSpPr txBox="1"/>
          <p:nvPr/>
        </p:nvSpPr>
        <p:spPr>
          <a:xfrm>
            <a:off x="493776" y="1069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ACTUAL TEST EMAIL  (fully Japanese — Suzuki Sekkei RFQ)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68209F-D489-BB77-8A0D-287F2405C995}"/>
              </a:ext>
            </a:extLst>
          </p:cNvPr>
          <p:cNvSpPr txBox="1"/>
          <p:nvPr/>
        </p:nvSpPr>
        <p:spPr>
          <a:xfrm>
            <a:off x="512064" y="142646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E2D554-D065-0153-FD8C-29EE6A127192}"/>
              </a:ext>
            </a:extLst>
          </p:cNvPr>
          <p:cNvSpPr txBox="1"/>
          <p:nvPr/>
        </p:nvSpPr>
        <p:spPr>
          <a:xfrm>
            <a:off x="1280160" y="142646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yamamoto.kenta@suzuki-sekkei.co.jp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A11C11-8D04-4BC3-FE41-904C142959A3}"/>
              </a:ext>
            </a:extLst>
          </p:cNvPr>
          <p:cNvSpPr txBox="1"/>
          <p:nvPr/>
        </p:nvSpPr>
        <p:spPr>
          <a:xfrm>
            <a:off x="512064" y="165049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To: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902302-C2AD-8AD8-F6B6-7BEDBF7C91AC}"/>
              </a:ext>
            </a:extLst>
          </p:cNvPr>
          <p:cNvSpPr txBox="1"/>
          <p:nvPr/>
        </p:nvSpPr>
        <p:spPr>
          <a:xfrm>
            <a:off x="1280160" y="165049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bids@globalparts.com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ABCCF-A3F9-5992-818A-BC9C83E65DE0}"/>
              </a:ext>
            </a:extLst>
          </p:cNvPr>
          <p:cNvSpPr txBox="1"/>
          <p:nvPr/>
        </p:nvSpPr>
        <p:spPr>
          <a:xfrm>
            <a:off x="512064" y="187452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E07ED3-D025-36AD-33B3-3CEA8C9F2F8C}"/>
              </a:ext>
            </a:extLst>
          </p:cNvPr>
          <p:cNvSpPr txBox="1"/>
          <p:nvPr/>
        </p:nvSpPr>
        <p:spPr>
          <a:xfrm>
            <a:off x="1280160" y="18745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[Urgent] 6-axis arc welding robot RFQ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3F217-B8D1-8478-E0AA-5EAB2E8A8A61}"/>
              </a:ext>
            </a:extLst>
          </p:cNvPr>
          <p:cNvSpPr txBox="1"/>
          <p:nvPr/>
        </p:nvSpPr>
        <p:spPr>
          <a:xfrm>
            <a:off x="512064" y="209854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Date: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43D05F-741E-2286-BC2A-85EE7425BE57}"/>
              </a:ext>
            </a:extLst>
          </p:cNvPr>
          <p:cNvSpPr txBox="1"/>
          <p:nvPr/>
        </p:nvSpPr>
        <p:spPr>
          <a:xfrm>
            <a:off x="1280160" y="209854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2026-05-26  (Monday 10:32 JST)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5EBCB-B51D-673F-FE74-42EE8CC114C2}"/>
              </a:ext>
            </a:extLst>
          </p:cNvPr>
          <p:cNvSpPr txBox="1"/>
          <p:nvPr/>
        </p:nvSpPr>
        <p:spPr>
          <a:xfrm>
            <a:off x="512064" y="232257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DEF22A-B95E-621E-A78B-7E918B27AA57}"/>
              </a:ext>
            </a:extLst>
          </p:cNvPr>
          <p:cNvSpPr txBox="1"/>
          <p:nvPr/>
        </p:nvSpPr>
        <p:spPr>
          <a:xfrm>
            <a:off x="512064" y="2546604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Suzuki Sekkei Co., Ltd. [鈴木設計株式会社]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06A526-A981-18C2-9CC2-54FD8889A4A3}"/>
              </a:ext>
            </a:extLst>
          </p:cNvPr>
          <p:cNvSpPr txBox="1"/>
          <p:nvPr/>
        </p:nvSpPr>
        <p:spPr>
          <a:xfrm>
            <a:off x="512064" y="277063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18 units 6-axis arc welding robots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6F2554-4F3F-3626-32FD-3D14A8D0398C}"/>
              </a:ext>
            </a:extLst>
          </p:cNvPr>
          <p:cNvSpPr txBox="1"/>
          <p:nvPr/>
        </p:nvSpPr>
        <p:spPr>
          <a:xfrm>
            <a:off x="512064" y="2994660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FANUC M-10iA/12 or Yaskawa Motoman MA1440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C38FA9-94E8-68CA-2D10-E0897DCCECDD}"/>
              </a:ext>
            </a:extLst>
          </p:cNvPr>
          <p:cNvSpPr txBox="1"/>
          <p:nvPr/>
        </p:nvSpPr>
        <p:spPr>
          <a:xfrm>
            <a:off x="512064" y="3218688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220568-EB12-7F88-3025-60C4B6441C29}"/>
              </a:ext>
            </a:extLst>
          </p:cNvPr>
          <p:cNvSpPr txBox="1"/>
          <p:nvPr/>
        </p:nvSpPr>
        <p:spPr>
          <a:xfrm>
            <a:off x="1280160" y="321868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JPY 220,000,000 (excl. tax) — delivery incl.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890F5-E14D-21D5-0D45-A77F062C0755}"/>
              </a:ext>
            </a:extLst>
          </p:cNvPr>
          <p:cNvSpPr txBox="1"/>
          <p:nvPr/>
        </p:nvSpPr>
        <p:spPr>
          <a:xfrm>
            <a:off x="512064" y="3442716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C6659-F46C-6AED-B18E-CE3720049063}"/>
              </a:ext>
            </a:extLst>
          </p:cNvPr>
          <p:cNvSpPr txBox="1"/>
          <p:nvPr/>
        </p:nvSpPr>
        <p:spPr>
          <a:xfrm>
            <a:off x="512064" y="366674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 1: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3E6FDB-9311-30E1-A5DD-31B489BEDE12}"/>
              </a:ext>
            </a:extLst>
          </p:cNvPr>
          <p:cNvSpPr txBox="1"/>
          <p:nvPr/>
        </p:nvSpPr>
        <p:spPr>
          <a:xfrm>
            <a:off x="1280160" y="366674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 units  Sep 15, 2026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EF9FE4-D95A-7F1C-23D2-32B1B8E73CC5}"/>
              </a:ext>
            </a:extLst>
          </p:cNvPr>
          <p:cNvSpPr txBox="1"/>
          <p:nvPr/>
        </p:nvSpPr>
        <p:spPr>
          <a:xfrm>
            <a:off x="512064" y="389077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 2: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7CD478-454A-BD7E-B025-FDA719203792}"/>
              </a:ext>
            </a:extLst>
          </p:cNvPr>
          <p:cNvSpPr txBox="1"/>
          <p:nvPr/>
        </p:nvSpPr>
        <p:spPr>
          <a:xfrm>
            <a:off x="1280160" y="389077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 units  Nov 30, 2026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42790B-1E16-A760-686D-6C793DB3EB65}"/>
              </a:ext>
            </a:extLst>
          </p:cNvPr>
          <p:cNvSpPr txBox="1"/>
          <p:nvPr/>
        </p:nvSpPr>
        <p:spPr>
          <a:xfrm>
            <a:off x="512064" y="4114800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 3: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7F9D2D-A159-840A-61D5-C7A638E7E83D}"/>
              </a:ext>
            </a:extLst>
          </p:cNvPr>
          <p:cNvSpPr txBox="1"/>
          <p:nvPr/>
        </p:nvSpPr>
        <p:spPr>
          <a:xfrm>
            <a:off x="1280160" y="41148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 units  Jan 31, 2027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63AB64-C7BD-F3A8-308D-5F8DDCF581BA}"/>
              </a:ext>
            </a:extLst>
          </p:cNvPr>
          <p:cNvSpPr txBox="1"/>
          <p:nvPr/>
        </p:nvSpPr>
        <p:spPr>
          <a:xfrm>
            <a:off x="512064" y="4338828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DD7C84-F83A-65C1-5713-44300475B6FD}"/>
              </a:ext>
            </a:extLst>
          </p:cNvPr>
          <p:cNvSpPr txBox="1"/>
          <p:nvPr/>
        </p:nvSpPr>
        <p:spPr>
          <a:xfrm>
            <a:off x="512064" y="4562856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AMC: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4D8902-BEA7-1F92-FBCE-5B27270FAB1C}"/>
              </a:ext>
            </a:extLst>
          </p:cNvPr>
          <p:cNvSpPr txBox="1"/>
          <p:nvPr/>
        </p:nvSpPr>
        <p:spPr>
          <a:xfrm>
            <a:off x="1280160" y="456285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Min. 3 years — scope UNDEFINED in email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5DA75B-B17B-0180-6950-48FB8BD6F0D8}"/>
              </a:ext>
            </a:extLst>
          </p:cNvPr>
          <p:cNvSpPr txBox="1"/>
          <p:nvPr/>
        </p:nvSpPr>
        <p:spPr>
          <a:xfrm>
            <a:off x="512064" y="4786884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Bid by: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25BB44-D5B7-F463-D284-BEF523F15080}"/>
              </a:ext>
            </a:extLst>
          </p:cNvPr>
          <p:cNvSpPr txBox="1"/>
          <p:nvPr/>
        </p:nvSpPr>
        <p:spPr>
          <a:xfrm>
            <a:off x="1280160" y="478688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20, 2026  17:00 JST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C52DCC-C506-78D5-8AFF-69C994555C68}"/>
              </a:ext>
            </a:extLst>
          </p:cNvPr>
          <p:cNvSpPr txBox="1"/>
          <p:nvPr/>
        </p:nvSpPr>
        <p:spPr>
          <a:xfrm>
            <a:off x="512064" y="5010912"/>
            <a:ext cx="7498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Contact: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80F2EF-9FC2-AEDE-CA71-1A37F10DD0FC}"/>
              </a:ext>
            </a:extLst>
          </p:cNvPr>
          <p:cNvSpPr txBox="1"/>
          <p:nvPr/>
        </p:nvSpPr>
        <p:spPr>
          <a:xfrm>
            <a:off x="1280160" y="50109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 Kenta [山本健太]  — Procurement Mgr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F5CC1E-D739-83B1-8F98-87086827B24E}"/>
              </a:ext>
            </a:extLst>
          </p:cNvPr>
          <p:cNvSpPr/>
          <p:nvPr/>
        </p:nvSpPr>
        <p:spPr>
          <a:xfrm>
            <a:off x="5559552" y="1024128"/>
            <a:ext cx="6236208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0940C00-C6CD-305D-1FEA-23FBE7FEB9CC}"/>
              </a:ext>
            </a:extLst>
          </p:cNvPr>
          <p:cNvSpPr/>
          <p:nvPr/>
        </p:nvSpPr>
        <p:spPr>
          <a:xfrm>
            <a:off x="5559552" y="1024128"/>
            <a:ext cx="6236208" cy="31089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808715-14CC-2D27-555C-B45FA3394521}"/>
              </a:ext>
            </a:extLst>
          </p:cNvPr>
          <p:cNvSpPr txBox="1"/>
          <p:nvPr/>
        </p:nvSpPr>
        <p:spPr>
          <a:xfrm>
            <a:off x="5669280" y="1069848"/>
            <a:ext cx="6053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2-AGENT DIRECT OUTPUT  (Pipeline B — actual notebook output)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211A59-1C91-4C25-2409-C74E02C2C6CF}"/>
              </a:ext>
            </a:extLst>
          </p:cNvPr>
          <p:cNvSpPr/>
          <p:nvPr/>
        </p:nvSpPr>
        <p:spPr>
          <a:xfrm>
            <a:off x="5669280" y="1444752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CB8420-1D9C-E348-9F4D-D948106FC233}"/>
              </a:ext>
            </a:extLst>
          </p:cNvPr>
          <p:cNvSpPr txBox="1"/>
          <p:nvPr/>
        </p:nvSpPr>
        <p:spPr>
          <a:xfrm>
            <a:off x="5760720" y="149961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responding_party: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71CCB7-A6D6-DC16-33E9-6F36BD6AC1F2}"/>
              </a:ext>
            </a:extLst>
          </p:cNvPr>
          <p:cNvSpPr txBox="1"/>
          <p:nvPr/>
        </p:nvSpPr>
        <p:spPr>
          <a:xfrm>
            <a:off x="7342632" y="149961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6x NEEDS_INPUT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68895C-6DD0-ED51-E4C6-B2A26002A7BD}"/>
              </a:ext>
            </a:extLst>
          </p:cNvPr>
          <p:cNvSpPr/>
          <p:nvPr/>
        </p:nvSpPr>
        <p:spPr>
          <a:xfrm>
            <a:off x="9354312" y="1499616"/>
            <a:ext cx="140817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B2C172-9DB9-4A5D-056F-DD3AA2E92458}"/>
              </a:ext>
            </a:extLst>
          </p:cNvPr>
          <p:cNvSpPr txBox="1"/>
          <p:nvPr/>
        </p:nvSpPr>
        <p:spPr>
          <a:xfrm>
            <a:off x="9381743" y="1508760"/>
            <a:ext cx="1353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SCHEMA INFLATION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9C1223-436E-E25D-535E-2289644B2799}"/>
              </a:ext>
            </a:extLst>
          </p:cNvPr>
          <p:cNvSpPr txBox="1"/>
          <p:nvPr/>
        </p:nvSpPr>
        <p:spPr>
          <a:xfrm>
            <a:off x="5760720" y="1755648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Vendor data has no place in a buyer-side RFQ — phantom section created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BB7992-68E9-4148-A997-FA4DBC738EFE}"/>
              </a:ext>
            </a:extLst>
          </p:cNvPr>
          <p:cNvSpPr/>
          <p:nvPr/>
        </p:nvSpPr>
        <p:spPr>
          <a:xfrm>
            <a:off x="5669280" y="2057400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60208B-4BF2-287D-58A6-277041E7DC6F}"/>
              </a:ext>
            </a:extLst>
          </p:cNvPr>
          <p:cNvSpPr txBox="1"/>
          <p:nvPr/>
        </p:nvSpPr>
        <p:spPr>
          <a:xfrm>
            <a:off x="5760720" y="21122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secondary_contact: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4E13E6-EBB2-8900-3AE3-CDDA1AC931A9}"/>
              </a:ext>
            </a:extLst>
          </p:cNvPr>
          <p:cNvSpPr txBox="1"/>
          <p:nvPr/>
        </p:nvSpPr>
        <p:spPr>
          <a:xfrm>
            <a:off x="7342632" y="211226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6x NEEDS_INPUT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62304D-9CCF-165D-33DD-54674473D7FB}"/>
              </a:ext>
            </a:extLst>
          </p:cNvPr>
          <p:cNvSpPr/>
          <p:nvPr/>
        </p:nvSpPr>
        <p:spPr>
          <a:xfrm>
            <a:off x="9354312" y="2112264"/>
            <a:ext cx="140817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BEEB7E-52C8-177E-70E7-B3A5A9235F7E}"/>
              </a:ext>
            </a:extLst>
          </p:cNvPr>
          <p:cNvSpPr txBox="1"/>
          <p:nvPr/>
        </p:nvSpPr>
        <p:spPr>
          <a:xfrm>
            <a:off x="9381743" y="2121408"/>
            <a:ext cx="1353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SCHEMA INFLATION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D3DFF7-C769-DE1B-28E0-5BC964F0D6B2}"/>
              </a:ext>
            </a:extLst>
          </p:cNvPr>
          <p:cNvSpPr txBox="1"/>
          <p:nvPr/>
        </p:nvSpPr>
        <p:spPr>
          <a:xfrm>
            <a:off x="5760720" y="2368296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12 spurious NEEDS_INPUT total — only 2 are genuine gaps in the email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3BCDA6-9E5E-CFDE-BFB6-7CF0488D960D}"/>
              </a:ext>
            </a:extLst>
          </p:cNvPr>
          <p:cNvSpPr/>
          <p:nvPr/>
        </p:nvSpPr>
        <p:spPr>
          <a:xfrm>
            <a:off x="5669280" y="2670048"/>
            <a:ext cx="6035040" cy="566928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445B20-C0B3-E9CF-91BF-B34A088C6CA8}"/>
              </a:ext>
            </a:extLst>
          </p:cNvPr>
          <p:cNvSpPr txBox="1"/>
          <p:nvPr/>
        </p:nvSpPr>
        <p:spPr>
          <a:xfrm>
            <a:off x="5760720" y="272491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risk_flags: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425A27-2442-4D3A-1E5D-9336E31AE017}"/>
              </a:ext>
            </a:extLst>
          </p:cNvPr>
          <p:cNvSpPr txBox="1"/>
          <p:nvPr/>
        </p:nvSpPr>
        <p:spPr>
          <a:xfrm>
            <a:off x="7342632" y="2724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"No supplier details..."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E3097C1-BB93-942D-2956-9F35B15BA9EA}"/>
              </a:ext>
            </a:extLst>
          </p:cNvPr>
          <p:cNvSpPr/>
          <p:nvPr/>
        </p:nvSpPr>
        <p:spPr>
          <a:xfrm>
            <a:off x="9354312" y="2724912"/>
            <a:ext cx="1328166" cy="219456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690CD6-5EE8-F58E-5AD2-7419A1F0FA97}"/>
              </a:ext>
            </a:extLst>
          </p:cNvPr>
          <p:cNvSpPr txBox="1"/>
          <p:nvPr/>
        </p:nvSpPr>
        <p:spPr>
          <a:xfrm>
            <a:off x="9381743" y="2734056"/>
            <a:ext cx="1273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WRONG RISK FLAG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480F88-1965-0719-6735-3CA371FCF3FF}"/>
              </a:ext>
            </a:extLst>
          </p:cNvPr>
          <p:cNvSpPr txBox="1"/>
          <p:nvPr/>
        </p:nvSpPr>
        <p:spPr>
          <a:xfrm>
            <a:off x="5760720" y="2980944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Supplier details are never in a buyer-issued RFQ by definition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43BC62F-D61F-9E51-7F04-3C6356E7114F}"/>
              </a:ext>
            </a:extLst>
          </p:cNvPr>
          <p:cNvSpPr/>
          <p:nvPr/>
        </p:nvSpPr>
        <p:spPr>
          <a:xfrm>
            <a:off x="5669280" y="3282696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B9C3A8-7C20-74E3-C950-7AC363CC3625}"/>
              </a:ext>
            </a:extLst>
          </p:cNvPr>
          <p:cNvSpPr txBox="1"/>
          <p:nvPr/>
        </p:nvSpPr>
        <p:spPr>
          <a:xfrm>
            <a:off x="5760720" y="33375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payment_terms: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468507-775A-156E-8166-9972EDE611D3}"/>
              </a:ext>
            </a:extLst>
          </p:cNvPr>
          <p:cNvSpPr txBox="1"/>
          <p:nvPr/>
        </p:nvSpPr>
        <p:spPr>
          <a:xfrm>
            <a:off x="7342632" y="33375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null  (left blank)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833C5A0-6A35-649B-836D-5E2F840CB3CC}"/>
              </a:ext>
            </a:extLst>
          </p:cNvPr>
          <p:cNvSpPr/>
          <p:nvPr/>
        </p:nvSpPr>
        <p:spPr>
          <a:xfrm>
            <a:off x="9354312" y="3337560"/>
            <a:ext cx="132816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825B3A-1D99-F38C-DD91-A977821F8715}"/>
              </a:ext>
            </a:extLst>
          </p:cNvPr>
          <p:cNvSpPr txBox="1"/>
          <p:nvPr/>
        </p:nvSpPr>
        <p:spPr>
          <a:xfrm>
            <a:off x="9381743" y="3346704"/>
            <a:ext cx="1273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MISSING DEFAULT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6CCF87-CD5F-30D6-4911-D6BBE37B3D00}"/>
              </a:ext>
            </a:extLst>
          </p:cNvPr>
          <p:cNvSpPr txBox="1"/>
          <p:nvPr/>
        </p:nvSpPr>
        <p:spPr>
          <a:xfrm>
            <a:off x="5760720" y="3593592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Net 30 (industry standard) not applied — ERP record incomplete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F8041A8-914A-C312-B468-53AA0A13EF05}"/>
              </a:ext>
            </a:extLst>
          </p:cNvPr>
          <p:cNvSpPr/>
          <p:nvPr/>
        </p:nvSpPr>
        <p:spPr>
          <a:xfrm>
            <a:off x="5669280" y="3895344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E4450B-C516-5523-DF4E-0C029618EC04}"/>
              </a:ext>
            </a:extLst>
          </p:cNvPr>
          <p:cNvSpPr txBox="1"/>
          <p:nvPr/>
        </p:nvSpPr>
        <p:spPr>
          <a:xfrm>
            <a:off x="5760720" y="395020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governing_law: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F7BE71-D696-FB54-98DA-1A72469055BA}"/>
              </a:ext>
            </a:extLst>
          </p:cNvPr>
          <p:cNvSpPr txBox="1"/>
          <p:nvPr/>
        </p:nvSpPr>
        <p:spPr>
          <a:xfrm>
            <a:off x="7342632" y="39502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null  (left blank)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DE1F77-D94C-199B-47BF-D0E25D3B3658}"/>
              </a:ext>
            </a:extLst>
          </p:cNvPr>
          <p:cNvSpPr/>
          <p:nvPr/>
        </p:nvSpPr>
        <p:spPr>
          <a:xfrm>
            <a:off x="9354312" y="3950208"/>
            <a:ext cx="132816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3BCA7-DCDD-E4A9-8BE5-3B20E5C675B3}"/>
              </a:ext>
            </a:extLst>
          </p:cNvPr>
          <p:cNvSpPr txBox="1"/>
          <p:nvPr/>
        </p:nvSpPr>
        <p:spPr>
          <a:xfrm>
            <a:off x="9381743" y="3959352"/>
            <a:ext cx="12733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MISSING DEFAULT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7882C9-A647-66D1-DFC5-38CD3EFD5105}"/>
              </a:ext>
            </a:extLst>
          </p:cNvPr>
          <p:cNvSpPr txBox="1"/>
          <p:nvPr/>
        </p:nvSpPr>
        <p:spPr>
          <a:xfrm>
            <a:off x="5760720" y="4206240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Laws of Japan not added — 5 more domain defaults also missing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EAA2243-9BE7-2072-353A-E061C4456DA5}"/>
              </a:ext>
            </a:extLst>
          </p:cNvPr>
          <p:cNvSpPr/>
          <p:nvPr/>
        </p:nvSpPr>
        <p:spPr>
          <a:xfrm>
            <a:off x="5669280" y="4507992"/>
            <a:ext cx="6035040" cy="566928"/>
          </a:xfrm>
          <a:prstGeom prst="rect">
            <a:avLst/>
          </a:prstGeom>
          <a:solidFill>
            <a:srgbClr val="FE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AC9AE7C-8EE4-7985-EE87-3B58CFDF89D9}"/>
              </a:ext>
            </a:extLst>
          </p:cNvPr>
          <p:cNvSpPr txBox="1"/>
          <p:nvPr/>
        </p:nvSpPr>
        <p:spPr>
          <a:xfrm>
            <a:off x="5760720" y="45628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C1C1C"/>
                </a:solidFill>
              </a:rPr>
              <a:t>fields_filled: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89C9A5-DA16-2DA3-9232-C630B090F283}"/>
              </a:ext>
            </a:extLst>
          </p:cNvPr>
          <p:cNvSpPr txBox="1"/>
          <p:nvPr/>
        </p:nvSpPr>
        <p:spPr>
          <a:xfrm>
            <a:off x="7342632" y="45628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C1C1C"/>
                </a:solidFill>
              </a:rPr>
              <a:t>45  (of 55 expected)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411D543-44D5-194C-0543-E6A0FA9CEB0A}"/>
              </a:ext>
            </a:extLst>
          </p:cNvPr>
          <p:cNvSpPr/>
          <p:nvPr/>
        </p:nvSpPr>
        <p:spPr>
          <a:xfrm>
            <a:off x="9354312" y="4562856"/>
            <a:ext cx="1088136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40D4274-C1AF-7320-F00E-FA43E31A2312}"/>
              </a:ext>
            </a:extLst>
          </p:cNvPr>
          <p:cNvSpPr txBox="1"/>
          <p:nvPr/>
        </p:nvSpPr>
        <p:spPr>
          <a:xfrm>
            <a:off x="9381743" y="4572000"/>
            <a:ext cx="10332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LOW COVERAGE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B38F5A-5F67-6E56-CC10-E228640CE530}"/>
              </a:ext>
            </a:extLst>
          </p:cNvPr>
          <p:cNvSpPr txBox="1"/>
          <p:nvPr/>
        </p:nvSpPr>
        <p:spPr>
          <a:xfrm>
            <a:off x="5760720" y="4818888"/>
            <a:ext cx="5779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A4A4A"/>
                </a:solidFill>
              </a:rPr>
              <a:t>No domain defaults applied — record needs manual completion before ERP use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7DE8E75-5B59-F21A-3354-D056646A798E}"/>
              </a:ext>
            </a:extLst>
          </p:cNvPr>
          <p:cNvSpPr/>
          <p:nvPr/>
        </p:nvSpPr>
        <p:spPr>
          <a:xfrm>
            <a:off x="384048" y="5376672"/>
            <a:ext cx="11420856" cy="25603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DA0C743-6B0E-AFAB-2236-57A22F7A7C5F}"/>
              </a:ext>
            </a:extLst>
          </p:cNvPr>
          <p:cNvSpPr txBox="1"/>
          <p:nvPr/>
        </p:nvSpPr>
        <p:spPr>
          <a:xfrm>
            <a:off x="502920" y="539496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PIPELINE B METRICS  (2-Agent Direct — Suzuki Sekkei Japanese RFQ)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41E1122-5B8B-417E-7618-17C272B887D1}"/>
              </a:ext>
            </a:extLst>
          </p:cNvPr>
          <p:cNvSpPr/>
          <p:nvPr/>
        </p:nvSpPr>
        <p:spPr>
          <a:xfrm>
            <a:off x="403339" y="5715501"/>
            <a:ext cx="2338473" cy="709336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0BB320-234C-7343-E263-B8F3D9A48B59}"/>
              </a:ext>
            </a:extLst>
          </p:cNvPr>
          <p:cNvSpPr txBox="1"/>
          <p:nvPr/>
        </p:nvSpPr>
        <p:spPr>
          <a:xfrm>
            <a:off x="512064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F1 Score  (extraction accuracy)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58E44D-9649-6FB1-472F-4CF35AC09BEB}"/>
              </a:ext>
            </a:extLst>
          </p:cNvPr>
          <p:cNvSpPr txBox="1"/>
          <p:nvPr/>
        </p:nvSpPr>
        <p:spPr>
          <a:xfrm>
            <a:off x="512064" y="5936079"/>
            <a:ext cx="19358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A1A1FC4-EBC8-01BD-A2AF-0F54069FF2C1}"/>
              </a:ext>
            </a:extLst>
          </p:cNvPr>
          <p:cNvSpPr/>
          <p:nvPr/>
        </p:nvSpPr>
        <p:spPr>
          <a:xfrm>
            <a:off x="3278184" y="5725648"/>
            <a:ext cx="2441567" cy="702822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BA8953-6588-B3C2-DBD6-39A8C88D5FE9}"/>
              </a:ext>
            </a:extLst>
          </p:cNvPr>
          <p:cNvSpPr txBox="1"/>
          <p:nvPr/>
        </p:nvSpPr>
        <p:spPr>
          <a:xfrm>
            <a:off x="3465576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Hallucination Rate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7A42D5-764C-72FC-0498-9EA4CFC87EFD}"/>
              </a:ext>
            </a:extLst>
          </p:cNvPr>
          <p:cNvSpPr txBox="1"/>
          <p:nvPr/>
        </p:nvSpPr>
        <p:spPr>
          <a:xfrm>
            <a:off x="3465576" y="6025144"/>
            <a:ext cx="23020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B677A69-9FD1-42E0-608F-857D3B444109}"/>
              </a:ext>
            </a:extLst>
          </p:cNvPr>
          <p:cNvSpPr/>
          <p:nvPr/>
        </p:nvSpPr>
        <p:spPr>
          <a:xfrm>
            <a:off x="6291072" y="5735544"/>
            <a:ext cx="2431671" cy="692926"/>
          </a:xfrm>
          <a:prstGeom prst="rect">
            <a:avLst/>
          </a:prstGeom>
          <a:solidFill>
            <a:srgbClr val="FDE8E8"/>
          </a:solidFill>
          <a:ln w="12700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782384-8269-72D4-6C8F-5F01421CFD96}"/>
              </a:ext>
            </a:extLst>
          </p:cNvPr>
          <p:cNvSpPr txBox="1"/>
          <p:nvPr/>
        </p:nvSpPr>
        <p:spPr>
          <a:xfrm>
            <a:off x="6419088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Confidence Score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0C39593-39B5-00AE-8C6B-AC51F75D1368}"/>
              </a:ext>
            </a:extLst>
          </p:cNvPr>
          <p:cNvSpPr txBox="1"/>
          <p:nvPr/>
        </p:nvSpPr>
        <p:spPr>
          <a:xfrm>
            <a:off x="6419088" y="5936079"/>
            <a:ext cx="19952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1CB0F73-887B-1BC7-557F-6D0ED11E8D0B}"/>
              </a:ext>
            </a:extLst>
          </p:cNvPr>
          <p:cNvSpPr/>
          <p:nvPr/>
        </p:nvSpPr>
        <p:spPr>
          <a:xfrm>
            <a:off x="9254480" y="5745440"/>
            <a:ext cx="2431671" cy="683030"/>
          </a:xfrm>
          <a:prstGeom prst="rect">
            <a:avLst/>
          </a:prstGeom>
          <a:solidFill>
            <a:srgbClr val="E6F7EC"/>
          </a:solidFill>
          <a:ln w="12700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0E7B0F8-D678-7FB5-D0CE-AD19BD569B70}"/>
              </a:ext>
            </a:extLst>
          </p:cNvPr>
          <p:cNvSpPr txBox="1"/>
          <p:nvPr/>
        </p:nvSpPr>
        <p:spPr>
          <a:xfrm>
            <a:off x="9372600" y="57607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BABAB"/>
                </a:solidFill>
              </a:rPr>
              <a:t>Faithfulness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694834-7C97-1088-BE36-715848C50432}"/>
              </a:ext>
            </a:extLst>
          </p:cNvPr>
          <p:cNvSpPr txBox="1"/>
          <p:nvPr/>
        </p:nvSpPr>
        <p:spPr>
          <a:xfrm>
            <a:off x="9382496" y="5886599"/>
            <a:ext cx="15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873E"/>
                </a:solidFill>
              </a:rPr>
              <a:t>0.95</a:t>
            </a:r>
          </a:p>
        </p:txBody>
      </p:sp>
    </p:spTree>
    <p:extLst>
      <p:ext uri="{BB962C8B-B14F-4D97-AF65-F5344CB8AC3E}">
        <p14:creationId xmlns:p14="http://schemas.microsoft.com/office/powerpoint/2010/main" val="38131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480" y="179001"/>
            <a:ext cx="105156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400" i="0" dirty="0" err="1">
                <a:solidFill>
                  <a:srgbClr val="FF0000"/>
                </a:solidFill>
              </a:rPr>
              <a:t>DSPy</a:t>
            </a:r>
            <a:r>
              <a:rPr sz="2400" i="0" dirty="0">
                <a:solidFill>
                  <a:srgbClr val="FF0000"/>
                </a:solidFill>
              </a:rPr>
              <a:t> Orchestrator in Action: Same Email, Structured Audit</a:t>
            </a:r>
            <a:endParaRPr lang="en-US" sz="2400" i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4593"/>
            <a:ext cx="105156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 i="0" dirty="0">
                <a:solidFill>
                  <a:schemeClr val="accent1">
                    <a:lumMod val="76000"/>
                  </a:schemeClr>
                </a:solidFill>
              </a:rPr>
              <a:t>Genuine results: 55 fields filled, 7 domain defaults, only 2 real </a:t>
            </a:r>
            <a:r>
              <a:rPr sz="1000" b="0" i="0" dirty="0" err="1">
                <a:solidFill>
                  <a:schemeClr val="accent1">
                    <a:lumMod val="76000"/>
                  </a:schemeClr>
                </a:solidFill>
              </a:rPr>
              <a:t>NEEDS_INPUT</a:t>
            </a:r>
            <a:endParaRPr lang="en-US" sz="1000" b="0" i="0" dirty="0" err="1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24128"/>
            <a:ext cx="4937760" cy="2633472"/>
          </a:xfrm>
          <a:prstGeom prst="rect">
            <a:avLst/>
          </a:prstGeom>
          <a:solidFill>
            <a:srgbClr val="F5F5F5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024128"/>
            <a:ext cx="4937760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06984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SAME EMAIL  (Suzuki Sekkei — japanese_email_test.json)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42646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From: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2646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yamamoto.kenta@suzuki-sekkei.co.jp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9621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Subject: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9621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[Urgent] 6-axis arc welding robot RFQ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965960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18 units — FANUC M-10iA/12 or Yaskawa MA1440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23570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Budget: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3570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JPY 220,000,000 (excl. tax) — delivery incl.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505456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Phases: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05456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6+6+6 units: Sep/Nov 2026, Jan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77520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AMC: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2775204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Min. 3 years — scope NOT defined in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3044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Bid by: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044952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20, 2026  17:00 JST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31470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A4A4A"/>
                </a:solidFill>
              </a:rPr>
              <a:t>Contact: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314700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 Kenta [山本健太] — Procurement Mgr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3749039"/>
            <a:ext cx="4937760" cy="1042415"/>
          </a:xfrm>
          <a:prstGeom prst="rect">
            <a:avLst/>
          </a:prstGeom>
          <a:solidFill>
            <a:srgbClr val="FEF3E0"/>
          </a:solidFill>
          <a:ln w="9525">
            <a:solidFill>
              <a:srgbClr val="B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3794760"/>
            <a:ext cx="4709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35A00"/>
                </a:solidFill>
              </a:rPr>
              <a:t>Real Risks in Email  (NEITHER pipeline fully flagged all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078224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X  AMC scope and inclusions completely undefined in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4297680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X  Budget excludes 2% consumption tax — clarification needed in bid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4517136"/>
            <a:ext cx="4681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X  No RFQ reference number — bid tracking at 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59552" y="1024128"/>
            <a:ext cx="623620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559552" y="1024128"/>
            <a:ext cx="6236208" cy="31089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0" y="1069848"/>
            <a:ext cx="6053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DSPY ORCHESTRATOR OUTPUT  (Pipeline A — actual extracted values)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14447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0720" y="14904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buyer_company: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14904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Suzuki Sekkei Co., Ltd.  [鈴木設計株式会社]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66576" y="14904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7876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0720" y="18333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budget: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18333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JPY 220,000,000 (excl. tax) — delivery incl., AMC separate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66576" y="18333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1305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0720" y="21762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quantity: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21762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18 units — 3-phase delivery (6+6+6)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66576" y="21762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24734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0720" y="25191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delivery_phase1: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25191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September 15, 2026  [2026年9月15日]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66576" y="25191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8163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0720" y="28620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payment_terms: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28620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Net 30  (industry standard — domain default applied)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66576" y="28620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31592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760720" y="32049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governing_law: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32049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Laws of Japan  (domain default applied)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66576" y="32049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35021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760720" y="35478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contact_email: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35478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yamamoto.kenta@suzuki-sekkei.co.jp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66576" y="35478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3845052"/>
            <a:ext cx="6035040" cy="329184"/>
          </a:xfrm>
          <a:prstGeom prst="rect">
            <a:avLst/>
          </a:prstGeom>
          <a:solidFill>
            <a:srgbClr val="E6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760720" y="38907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robot_model: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0" y="38907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FANUC M-10iA/12 or Yaskawa Motoman MA1440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66576" y="38907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0" y="4187952"/>
            <a:ext cx="60350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760720" y="423367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C1C1C"/>
                </a:solidFill>
              </a:rPr>
              <a:t>bid_deadline: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4233672"/>
            <a:ext cx="40416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C1C1C"/>
                </a:solidFill>
              </a:rPr>
              <a:t>June 20, 2026  17:00 JST  [2026年6月20日]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66576" y="423367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873E"/>
                </a:solidFill>
              </a:rPr>
              <a:t>OK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9552" y="4736592"/>
            <a:ext cx="6236208" cy="310896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14416" y="479145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44384" y="479145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2-Agent Direct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73184" y="4791456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DSPy Orchestrator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37392" y="4791456"/>
            <a:ext cx="6035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9552" y="5047488"/>
            <a:ext cx="62362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614416" y="512064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F1 Score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44384" y="512064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0.83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73184" y="512064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0.87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082528" y="510235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082528" y="510235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9552" y="5413248"/>
            <a:ext cx="6236208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614416" y="54864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Hallucination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44384" y="548640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15%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73184" y="548640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1082528" y="546811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1082528" y="546811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-47%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9552" y="5779008"/>
            <a:ext cx="6236208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614416" y="58521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Confidence 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44384" y="585216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64%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73184" y="585216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873E"/>
                </a:solidFill>
              </a:rPr>
              <a:t>79%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082528" y="5833872"/>
            <a:ext cx="676656" cy="237744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082528" y="583387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+23%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59552" y="6144768"/>
            <a:ext cx="6236208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614416" y="62179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Faithfulness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44384" y="621792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B262A"/>
                </a:solidFill>
              </a:rPr>
              <a:t>0.95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73184" y="62179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35A00"/>
                </a:solidFill>
              </a:rPr>
              <a:t>0.92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082528" y="6199632"/>
            <a:ext cx="676656" cy="237744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082528" y="6199632"/>
            <a:ext cx="6766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-3%*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90468" y="6495012"/>
            <a:ext cx="447232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ABABAB"/>
                </a:solidFill>
              </a:rPr>
              <a:t>* Faithfulness 0.95 vs 0.92: 2-Agent Direct wins (readable dates, Japanese traceability brackets)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4048" y="4855345"/>
            <a:ext cx="4937760" cy="512064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92272" y="494979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73E"/>
                </a:solidFill>
              </a:rPr>
              <a:t>Pipeline A (DSPy):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46248" y="4930001"/>
            <a:ext cx="2788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873E"/>
                </a:solidFill>
              </a:rPr>
              <a:t>79% Confidence  |  55 Fields  |  7 Domain Defaults  |  2 Genuine NEEDS_INPUT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792" y="258170"/>
            <a:ext cx="10515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i="0">
                <a:solidFill>
                  <a:srgbClr val="FF0000"/>
                </a:solidFill>
              </a:rPr>
              <a:t>Summary</a:t>
            </a:r>
            <a:endParaRPr lang="en-US" sz="2800" i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4048" y="1060704"/>
            <a:ext cx="5413248" cy="34747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12471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Current Challenges  (2-Agent Direct — Pipeline B)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1060704"/>
            <a:ext cx="5559552" cy="34747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1247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How DSPy Addresses Them  (Pipeline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060704"/>
            <a:ext cx="54864" cy="49194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151790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151790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609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Schema Inflation: 12 Phantom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9385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2-Agent Direct created responding_party + secondary_contact sections with 12 NEEDS_INPUT for vendor data that does not belong in a buyer-side RFQ. Only 2 of 14 reported NEEDS_INPUT were real gaps. Confidence: 64%.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51790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151790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609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DSPy Audit Eliminates Phantom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93852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AuditSignature validates every field against the source email. Zero phantom sections created — only 2 genuine NEEDS_INPUT (rfq_id, ref no.) vs 12 self-inflicted by 2-Agent Direct. F1 Score: 0.87 vs 0.83. Confidence: 79% vs 64%.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98094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298094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0723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No Domain Intelligence Applied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0156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Zero domain defaults added — payment_terms, governing_law, JCAA arbitration, force_majeure, bid_validity_days all left blank. Only 45 of 55 expected fields filled. Record needs manual completion before ERP processing.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298094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36208" y="298094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07238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7 Domain Defaults Auto-Applied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40156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DSPy fills industry-standard fields automatically: Net 30 payment terms, Laws of Japan, JCAA arbitration, force_majeure clause, bid_validity_days (90 days). 55 fields filled vs 45 — ERP record is actionable today. +15pp confidence gain.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4443984"/>
            <a:ext cx="5413248" cy="1353312"/>
          </a:xfrm>
          <a:prstGeom prst="rect">
            <a:avLst/>
          </a:prstGeom>
          <a:solidFill>
            <a:srgbClr val="FDE8E8"/>
          </a:solidFill>
          <a:ln w="9525">
            <a:solidFill>
              <a:srgbClr val="EB2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4048" y="4443984"/>
            <a:ext cx="182880" cy="1353312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5354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Risk Blind Spot — Critical for Both Pipelines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86460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Neither pipeline flagged all 3 real procurement risks: undefined AMC scope, budget excludes 2% consumption tax, no RFQ reference number. This is the #1 improvement target before any production deployment.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4443984"/>
            <a:ext cx="5559552" cy="1353312"/>
          </a:xfrm>
          <a:prstGeom prst="rect">
            <a:avLst/>
          </a:prstGeom>
          <a:solidFill>
            <a:srgbClr val="E6F7EC"/>
          </a:solidFill>
          <a:ln w="9525">
            <a:solidFill>
              <a:srgbClr val="1B8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36208" y="4443984"/>
            <a:ext cx="182880" cy="1353312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0528" y="45354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C1C"/>
                </a:solidFill>
              </a:rPr>
              <a:t>Next Step: Dedicated Risk Signature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4864608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4A"/>
                </a:solidFill>
              </a:rPr>
              <a:t>DSPy reduces hallucination to 8% (vs 15%) and wins F1, Confidence, and Hallucination metrics. Faithfulness: 2-Agent wins (0.95 vs 0.92) via readable dates and Japanese brackets. Add RiskSignature to catch AMC, tax, and ref gaps.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24" y="5916920"/>
            <a:ext cx="1882944" cy="516181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F1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0.83  to  0.87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48613" y="5933704"/>
            <a:ext cx="530352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548613" y="598243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+5%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28635" y="5916920"/>
            <a:ext cx="1981904" cy="506285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31010" y="5953496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Hallucination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59659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15%  to  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22888" y="5933704"/>
            <a:ext cx="530352" cy="219456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32784" y="5942848"/>
            <a:ext cx="53035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-47%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12806" y="5916920"/>
            <a:ext cx="1972008" cy="516181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43830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Confidence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3830" y="6153160"/>
            <a:ext cx="1842489" cy="24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64%  to  79%</a:t>
            </a:r>
          </a:p>
        </p:txBody>
      </p:sp>
      <p:sp>
        <p:nvSpPr>
          <p:cNvPr id="50" name="Rectangle 49"/>
          <p:cNvSpPr/>
          <p:nvPr/>
        </p:nvSpPr>
        <p:spPr>
          <a:xfrm flipH="1">
            <a:off x="6201983" y="5943600"/>
            <a:ext cx="498842" cy="239248"/>
          </a:xfrm>
          <a:prstGeom prst="rect">
            <a:avLst/>
          </a:prstGeom>
          <a:solidFill>
            <a:srgbClr val="1B8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06020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+23%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06873" y="5926816"/>
            <a:ext cx="1793879" cy="456805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28001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Faithfulness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28001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0.95 (B) / 0.92 (A)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01126" y="5943600"/>
            <a:ext cx="530352" cy="219456"/>
          </a:xfrm>
          <a:prstGeom prst="rect">
            <a:avLst/>
          </a:prstGeom>
          <a:solidFill>
            <a:srgbClr val="B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401126" y="5952744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 +3pp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91044" y="5936712"/>
            <a:ext cx="1625645" cy="486493"/>
          </a:xfrm>
          <a:prstGeom prst="rect">
            <a:avLst/>
          </a:prstGeom>
          <a:solidFill>
            <a:srgbClr val="FFFFFF"/>
          </a:solidFill>
          <a:ln w="635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12172" y="5943600"/>
            <a:ext cx="21195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BABAB"/>
                </a:solidFill>
              </a:rPr>
              <a:t>Integration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12172" y="6163056"/>
            <a:ext cx="21195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C1C1C"/>
                </a:solidFill>
              </a:rPr>
              <a:t>OpenAI Agent SDK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625922" y="5943600"/>
            <a:ext cx="530352" cy="219456"/>
          </a:xfrm>
          <a:prstGeom prst="rect">
            <a:avLst/>
          </a:prstGeom>
          <a:solidFill>
            <a:srgbClr val="186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586337" y="5982432"/>
            <a:ext cx="530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Template" id="{BEA06CDB-37E2-4EB1-900A-1551629CEA0E}" vid="{BBDB73F9-D2B3-48F7-985A-E3E6915AEB01}"/>
    </a:ext>
  </a:extLst>
</a:theme>
</file>

<file path=ppt/theme/theme2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esentation1" id="{F15BEDC6-FB48-47A5-80AF-B11DDDEE5AA1}" vid="{08D7E6E7-F3BD-41C5-BA27-B03C5328B8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707E57A-CA57-4777-9559-C7DC9DFFE602}">
  <we:reference id="f5f369e5-aa35-49d7-ad7b-638152ddb008" version="1.0.0.1" store="excatalog" storeType="excatalog"/>
  <we:alternateReferences>
    <we:reference id="WA200010001" version="1.0.0.1" store="en-us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0" runtimeId="Taskpane.Url"/>
    </a:ext>
  </we:extLst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CF3A99-51F0-43A9-87E1-C8A5C1302A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6E059C-EB5A-4ADE-85E0-7FB6777C39D8}">
  <ds:schemaRefs>
    <ds:schemaRef ds:uri="b2539141-1d24-469a-8c72-ac806e3c9d0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094aa81-11af-402c-8a55-d570af07a0a0"/>
  </ds:schemaRefs>
</ds:datastoreItem>
</file>

<file path=customXml/itemProps3.xml><?xml version="1.0" encoding="utf-8"?>
<ds:datastoreItem xmlns:ds="http://schemas.openxmlformats.org/officeDocument/2006/customXml" ds:itemID="{547996D4-D8DF-4F6A-9496-56D6C65F8A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539141-1d24-469a-8c72-ac806e3c9d09"/>
    <ds:schemaRef ds:uri="d094aa81-11af-402c-8a55-d570af07a0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1_Theme - Prodapt PPT</vt:lpstr>
      <vt:lpstr>Theme - Prodapt PPT</vt:lpstr>
      <vt:lpstr>PowerPoint Presentation</vt:lpstr>
      <vt:lpstr>No-DSPy Implementations and observations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P</dc:creator>
  <cp:revision>225</cp:revision>
  <dcterms:created xsi:type="dcterms:W3CDTF">2026-05-08T09:09:19Z</dcterms:created>
  <dcterms:modified xsi:type="dcterms:W3CDTF">2026-05-29T10:26:27Z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