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  <p:sldMasterId id="2147483750" r:id="rId5"/>
  </p:sldMasterIdLst>
  <p:notesMasterIdLst>
    <p:notesMasterId r:id="rId7"/>
  </p:notesMasterIdLst>
  <p:sldIdLst>
    <p:sldId id="256" r:id="rId6"/>
    <p:sldId id="257" r:id="rId13"/>
    <p:sldId id="258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32480-AB4D-BA81-F02D-7E861F173148}" v="29" dt="2026-05-29T07:17:12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AC9AB-10AF-43D4-938D-CAE13FA6803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932A8-3EB0-4B56-AF58-8A7129F90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6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://www.prodapt.com/" TargetMode="Externa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6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Relationship Id="rId3" Type="http://schemas.openxmlformats.org/officeDocument/2006/relationships/image" Target="../media/image1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://www.prodapt.com/" TargetMode="Externa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323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41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27514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22042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6771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6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86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6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building&#10;&#10;Description automatically generated">
            <a:extLst>
              <a:ext uri="{FF2B5EF4-FFF2-40B4-BE49-F238E27FC236}">
                <a16:creationId xmlns:a16="http://schemas.microsoft.com/office/drawing/2014/main" id="{4B25582B-329F-41DD-0BF1-85B6B7765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51427" cy="68614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40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3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74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395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77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0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74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214953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80363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124832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8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28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37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156047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13995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9958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251862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49219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7158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892678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53441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85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4358156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34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8235551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5288218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98632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438052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64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953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367903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slid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5AA4347-1007-81BD-5B10-67FA43883F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996" y="1326117"/>
            <a:ext cx="5606503" cy="4926328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8800">
                <a:latin typeface="KareliaWeb Regular" panose="00000500000000000000" pitchFamily="2" charset="0"/>
              </a:defRPr>
            </a:lvl1pPr>
          </a:lstStyle>
          <a:p>
            <a:pPr lvl="0"/>
            <a:r>
              <a:rPr lang="en-IN"/>
              <a:t>2500+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36E1D0-68B8-A965-0A1A-DA590EE34C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A93513-D318-1B19-286C-9796FF0D7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Number slide with description</a:t>
            </a:r>
            <a:endParaRPr lang="en-US"/>
          </a:p>
        </p:txBody>
      </p:sp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6FAFAFC1-6AB8-4C96-F015-5EEC407D0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09" y="1326118"/>
            <a:ext cx="5710095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6BDFB01-C023-6344-EBC0-2F8F33A066F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752845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14262538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5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877199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584112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8245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866639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828866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1603879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2230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518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430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A058-5723-B805-566A-09BE09555A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0" t="427" r="15144" b="34419"/>
          <a:stretch/>
        </p:blipFill>
        <p:spPr>
          <a:xfrm>
            <a:off x="-1" y="0"/>
            <a:ext cx="1225142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7731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1629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405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5912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5741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392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687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563919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324451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39238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377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57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506890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264166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9171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5932971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6889223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90621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488539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617493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958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57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451508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95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607359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161206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0031446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3337066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363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3913921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0465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5848498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143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120967756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681"/>
            <a:ext cx="10972797" cy="834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90371"/>
            <a:ext cx="10972800" cy="40912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6AFD79-82E1-C143-90F1-03BA0E48C0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1" y="1464300"/>
            <a:ext cx="10972799" cy="44873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75C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815943-AE4F-064C-8525-BBDDBB2F5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9920" y="6389720"/>
            <a:ext cx="529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35675F-94B7-49AB-A0D8-992424F9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478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Relationship Id="rId46" Type="http://schemas.openxmlformats.org/officeDocument/2006/relationships/image" Target="../media/image1.svg"/><Relationship Id="rId4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2.xml"/><Relationship Id="rId39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86.xml"/><Relationship Id="rId43" Type="http://schemas.openxmlformats.org/officeDocument/2006/relationships/slideLayout" Target="../slideLayouts/slideLayout87.xml"/><Relationship Id="rId44" Type="http://schemas.openxmlformats.org/officeDocument/2006/relationships/slideLayout" Target="../slideLayouts/slideLayout88.xml"/><Relationship Id="rId45" Type="http://schemas.openxmlformats.org/officeDocument/2006/relationships/theme" Target="../theme/theme2.xml"/><Relationship Id="rId46" Type="http://schemas.openxmlformats.org/officeDocument/2006/relationships/image" Target="../media/image1.svg"/><Relationship Id="rId4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1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  <p:sldLayoutId id="2147483738" r:id="rId33"/>
    <p:sldLayoutId id="2147483739" r:id="rId34"/>
    <p:sldLayoutId id="2147483740" r:id="rId35"/>
    <p:sldLayoutId id="2147483741" r:id="rId36"/>
    <p:sldLayoutId id="2147483742" r:id="rId37"/>
    <p:sldLayoutId id="2147483743" r:id="rId38"/>
    <p:sldLayoutId id="2147483744" r:id="rId39"/>
    <p:sldLayoutId id="2147483745" r:id="rId40"/>
    <p:sldLayoutId id="2147483746" r:id="rId41"/>
    <p:sldLayoutId id="2147483747" r:id="rId42"/>
    <p:sldLayoutId id="2147483748" r:id="rId43"/>
    <p:sldLayoutId id="2147483749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8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  <p:sldLayoutId id="2147483783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Pipeline Architecture: 2-Agent Direct vs DSPy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0BF"/>
                </a:solidFill>
              </a:rPr>
              <a:t>Real Japanese procurement email (Suzuki Sekkei RFQ) — processed by two competing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5166360" cy="5742432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87552"/>
            <a:ext cx="5166360" cy="29260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02412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ACTUAL TEST EMAIL  (Japanese → English — Suzuki Sekkei RFQ)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From: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3533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Kenta Yamamoto [山本健太]  &lt;yamamoto.kenta@suzuki-sekkei.co.jp&gt;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58374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To: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58374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bids@globalparts.com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814168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Date: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18141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May 26, 2026 — 10:32 AM JST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044596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Subject: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204459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[URGENT] Procurement — 6-Axis Arc Welding Robots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2750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BABAB"/>
                </a:solidFill>
              </a:rPr>
              <a:t>────────────────────────────────────────────────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50545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Item: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250545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6-Axis Arc Welding Robot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273588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Model: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273588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FANUC M-10iA/12 or Yaskawa Motoman MA1440 (equiv. ok)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2966308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Qty: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296630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18 units   (3-phase delivery: 6 + 6 + 6)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196736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Budget: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31967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JPY 220,000,000  (excl. tax) — delivery &amp; install incl.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365759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Phase 1: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365759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6 units  →  Sep 15,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388802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Phase 2: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388802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6 units  →  Nov 30,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118448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Phase 3: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" y="41184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6 units  →  Jan 31,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4348876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Full Ops: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" y="434887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Mar 1,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45793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BABAB"/>
                </a:solidFill>
              </a:rPr>
              <a:t>────────────────────────────────────────────────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480973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Specs: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" y="480973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IP67 | ±0.05 mm repeatability | 10 kg payload | 1,400 mm reach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504016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ABABAB"/>
                </a:solidFill>
              </a:rPr>
              <a:t>EtherNet/IP controller required (PLC connection)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5270588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AMC: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" y="527058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Min. 3 years — scope UNDEFINED in email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5501016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Bid by: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" y="550101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Jun 20, 2026  17:00 JST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" y="5731444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Contact: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" y="573144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Yamamoto Kenta [山本健太]  —  Head of Procurement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5961872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Company: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" y="596187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Suzuki Sekkei Co., Ltd. [鈴木設計株式会社]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6192300"/>
            <a:ext cx="7132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A4A4A"/>
                </a:solidFill>
              </a:rPr>
              <a:t>Address: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" y="619230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C1C1C"/>
                </a:solidFill>
              </a:rPr>
              <a:t>3-18-1 Sakae, Naka-ku, Nagoya, Aichi 460-0008, Japan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59552" y="987552"/>
            <a:ext cx="6400800" cy="2011680"/>
          </a:xfrm>
          <a:prstGeom prst="rect">
            <a:avLst/>
          </a:prstGeom>
          <a:solidFill>
            <a:srgbClr val="F0E8FA"/>
          </a:solidFill>
          <a:ln w="9525">
            <a:solidFill>
              <a:srgbClr val="6B2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59552" y="987552"/>
            <a:ext cx="6400800" cy="274320"/>
          </a:xfrm>
          <a:prstGeom prst="rect">
            <a:avLst/>
          </a:prstGeom>
          <a:solidFill>
            <a:srgbClr val="6B2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0" y="102412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Why DSPy?  (Declarative Self-improving Python)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1389888"/>
            <a:ext cx="45720" cy="256032"/>
          </a:xfrm>
          <a:prstGeom prst="rect">
            <a:avLst/>
          </a:prstGeom>
          <a:solidFill>
            <a:srgbClr val="6B2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0" y="138988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2F9E"/>
                </a:solidFill>
              </a:rPr>
              <a:t>Structured Pipelines: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0" y="1389888"/>
            <a:ext cx="431596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Chain LLM calls as composable, schema-typed modules — I/O is enforced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1792224"/>
            <a:ext cx="45720" cy="256032"/>
          </a:xfrm>
          <a:prstGeom prst="rect">
            <a:avLst/>
          </a:prstGeom>
          <a:solidFill>
            <a:srgbClr val="6B2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0" y="1792224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2F9E"/>
                </a:solidFill>
              </a:rPr>
              <a:t>Auditable Handoffs: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0" y="1792224"/>
            <a:ext cx="431596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Every step is inspectable via dspy.inspect_history(); no black-box calls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2194560"/>
            <a:ext cx="45720" cy="256032"/>
          </a:xfrm>
          <a:prstGeom prst="rect">
            <a:avLst/>
          </a:prstGeom>
          <a:solidFill>
            <a:srgbClr val="6B2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0" y="2194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2F9E"/>
                </a:solidFill>
              </a:rPr>
              <a:t>Constrained Extraction: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0" y="2194560"/>
            <a:ext cx="431596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Signatures validate output structure — prevents schema drift and phantom fields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2596896"/>
            <a:ext cx="45720" cy="256032"/>
          </a:xfrm>
          <a:prstGeom prst="rect">
            <a:avLst/>
          </a:prstGeom>
          <a:solidFill>
            <a:srgbClr val="6B2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0" y="2596896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2F9E"/>
                </a:solidFill>
              </a:rPr>
              <a:t>Optimizable: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0" y="2596896"/>
            <a:ext cx="431596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4A4A"/>
                </a:solidFill>
              </a:rPr>
              <a:t>BootstrapFewShot auto-tunes prompts over time without manual rewrites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59552" y="3127248"/>
            <a:ext cx="6400800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59552" y="3127248"/>
            <a:ext cx="640080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0" y="3163824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Pipeline Flow Comparison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87568" y="3474720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B262A"/>
                </a:solidFill>
              </a:rPr>
              <a:t>Case 1 — No DSPy  (2-Agent Direct):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87568" y="3712464"/>
            <a:ext cx="914400" cy="640080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24144" y="3785616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4A4A"/>
                </a:solidFill>
              </a:rPr>
              <a:t>Email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24144" y="4023360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Input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01968" y="389534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3712464"/>
            <a:ext cx="2011680" cy="640080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94576" y="3785616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B262A"/>
                </a:solidFill>
              </a:rPr>
              <a:t>Agent-1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94576" y="402336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Extract
+ Audit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80" y="389534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25712" y="3712464"/>
            <a:ext cx="2011680" cy="640080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62288" y="3785616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B262A"/>
                </a:solidFill>
              </a:rPr>
              <a:t>Agent-2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62288" y="4023360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Enrich
+ Validate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37392" y="389534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393424" y="3712464"/>
            <a:ext cx="822960" cy="640080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30000" y="378561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4A4A"/>
                </a:solidFill>
              </a:rPr>
              <a:t>Output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30000" y="4023360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JSON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87568" y="4855464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873E"/>
                </a:solidFill>
              </a:rPr>
              <a:t>Case 2 — With DSPy  (Orchestrator):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87568" y="5093208"/>
            <a:ext cx="914400" cy="640080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24144" y="516636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4A4A"/>
                </a:solidFill>
              </a:rPr>
              <a:t>Email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24144" y="5404104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Input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01968" y="5276088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39712" y="5093208"/>
            <a:ext cx="1508760" cy="640080"/>
          </a:xfrm>
          <a:prstGeom prst="rect">
            <a:avLst/>
          </a:prstGeom>
          <a:solidFill>
            <a:srgbClr val="F0E8FA"/>
          </a:solidFill>
          <a:ln w="9525">
            <a:solidFill>
              <a:srgbClr val="6B2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76288" y="51663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2F9E"/>
                </a:solidFill>
              </a:rPr>
              <a:t>DSPy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76288" y="5404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Predict
(Extract)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48472" y="5276088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86216" y="5093208"/>
            <a:ext cx="1508760" cy="640080"/>
          </a:xfrm>
          <a:prstGeom prst="rect">
            <a:avLst/>
          </a:prstGeom>
          <a:solidFill>
            <a:srgbClr val="F0E8FA"/>
          </a:solidFill>
          <a:ln w="9525">
            <a:solidFill>
              <a:srgbClr val="6B2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22792" y="51663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2F9E"/>
                </a:solidFill>
              </a:rPr>
              <a:t>DSPy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22792" y="5404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Predict
(Audit)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94976" y="5276088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332720" y="5093208"/>
            <a:ext cx="1508760" cy="640080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369296" y="51663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873E"/>
                </a:solidFill>
              </a:rPr>
              <a:t>Agent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69296" y="5404104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Enrich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841480" y="5276088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BABAB"/>
                </a:solidFill>
              </a:rPr>
              <a:t>→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079224" y="5093208"/>
            <a:ext cx="822960" cy="640080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2115800" y="516636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A4A4A"/>
                </a:solidFill>
              </a:rPr>
              <a:t>Output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115800" y="540410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4A4A"/>
                </a:solidFill>
              </a:rPr>
              <a:t>JSON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87568" y="5861304"/>
            <a:ext cx="6144768" cy="475488"/>
          </a:xfrm>
          <a:prstGeom prst="rect">
            <a:avLst/>
          </a:prstGeom>
          <a:solidFill>
            <a:srgbClr val="FEF3E0"/>
          </a:solidFill>
          <a:ln w="9525">
            <a:solidFill>
              <a:srgbClr val="B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797296" y="5943600"/>
            <a:ext cx="5925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35A00"/>
                </a:solidFill>
              </a:rPr>
              <a:t>Key Difference:  DSPy owns structured extraction and audit via typed Signatures — prevents schema drift, phantom fields, and missing domain defaults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No-DSPy Pipeline (2-Agent Direct) — Evaluation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0BF"/>
                </a:solidFill>
              </a:rPr>
              <a:t>Pipeline B — Japanese RFQ (Suzuki Sekkei) — direct agent chaining without structured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554480" cy="32918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069848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0512" y="1005840"/>
            <a:ext cx="1005840" cy="32918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3664" y="1069848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1005840"/>
            <a:ext cx="4544568" cy="32918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1069848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Went Well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005840"/>
            <a:ext cx="4572000" cy="32918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1069848"/>
            <a:ext cx="4462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Did NOT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335024"/>
            <a:ext cx="1554480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426464"/>
            <a:ext cx="1417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F1 Score
(Extraction
Accuracy)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10512" y="1335024"/>
            <a:ext cx="1005840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47088" y="1426464"/>
            <a:ext cx="9326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B262A"/>
                </a:solidFill>
              </a:rPr>
              <a:t>0.83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6352" y="1335024"/>
            <a:ext cx="4544568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335024"/>
            <a:ext cx="36576" cy="8961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1399032"/>
            <a:ext cx="4416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All 40 core facts extracted from Japanese email
• Correct: item, qty, budget, specs, 3 delivery phases
• Compliance standards (JIS B 8433, ISO 10218-1) correct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335024"/>
            <a:ext cx="4572000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335024"/>
            <a:ext cx="36576" cy="8961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399032"/>
            <a:ext cx="444398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2 phantom sections created (responding_party, secondary_contact)
• 12 spurious NEEDS_INPUT — only 2 are genuine gaps
• Structural errors reduce precision below 0.87 benchmark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2231136"/>
            <a:ext cx="1554480" cy="8961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322576"/>
            <a:ext cx="1417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Faithfulness
(Source
Grounding)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10512" y="2231136"/>
            <a:ext cx="1005840" cy="8961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47088" y="2322576"/>
            <a:ext cx="9326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B262A"/>
                </a:solidFill>
              </a:rPr>
              <a:t>0.95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2231136"/>
            <a:ext cx="4544568" cy="8961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16352" y="2231136"/>
            <a:ext cx="36576" cy="8961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07792" y="2295144"/>
            <a:ext cx="4416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Readable English dates: 'September 15, 2026' ✓
• Japanese traceability brackets throughout:
   'Kenta Yamamoto [山本健太]'
• Captured 'equivalent models acceptable' explicitly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2231136"/>
            <a:ext cx="4572000" cy="8961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0920" y="2231136"/>
            <a:ext cx="36576" cy="8961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2295144"/>
            <a:ext cx="444398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Vendor (responding_party) fields injected — not in source
• Risk flag 'No supplier details' wrong for buyer-side RFQ
• 1 genuine open item: equivalent model pre-approval unclear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3127248"/>
            <a:ext cx="1554480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218688"/>
            <a:ext cx="1417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Output
Relevancy
(Confidence)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10512" y="3127248"/>
            <a:ext cx="1005840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3218688"/>
            <a:ext cx="9326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B262A"/>
                </a:solidFill>
              </a:rPr>
              <a:t>64%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16352" y="3127248"/>
            <a:ext cx="4544568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16352" y="3127248"/>
            <a:ext cx="36576" cy="8961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07792" y="3191256"/>
            <a:ext cx="4416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Correct domain: procurement / request_for_quote
• All technical specs extracted: IP67, ±0.05 mm, EtherNet/IP
• open_items returned as array — correct schema format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3127248"/>
            <a:ext cx="4572000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60920" y="3127248"/>
            <a:ext cx="36576" cy="8961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3191256"/>
            <a:ext cx="444398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14 NEEDS_INPUT (12 phantom — not real data gaps)
• 0/7 domain-standard defaults applied: payment_terms blank
• ERP record requires manual completion before 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4023360"/>
            <a:ext cx="1554480" cy="8961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4114800"/>
            <a:ext cx="1417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Output
Correctness
(Field Quality)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10512" y="4023360"/>
            <a:ext cx="1005840" cy="8961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47088" y="4114800"/>
            <a:ext cx="9326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B262A"/>
                </a:solidFill>
              </a:rPr>
              <a:t>0.80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16352" y="4023360"/>
            <a:ext cx="4544568" cy="8961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16352" y="4023360"/>
            <a:ext cx="36576" cy="8961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07792" y="4087368"/>
            <a:ext cx="4416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Technical specs fully and correctly extracted
• Budget breakdown (inclusions/exclusions) correct
• Delivery batches (3 × 6 units) accurately structured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60920" y="4023360"/>
            <a:ext cx="4572000" cy="896112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60920" y="4023360"/>
            <a:ext cx="36576" cy="8961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4087368"/>
            <a:ext cx="444398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0 domain defaults: governing_law, JCAA, force_majeure all blank
• Only 45 of 55 expected fields filled
• Resolution log inflated by phantom field decisions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" y="4919472"/>
            <a:ext cx="1554480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5010912"/>
            <a:ext cx="1417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Hallucination
Rate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512" y="4919472"/>
            <a:ext cx="1005840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47088" y="5010912"/>
            <a:ext cx="9326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B262A"/>
                </a:solidFill>
              </a:rPr>
              <a:t>15%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16352" y="4919472"/>
            <a:ext cx="4544568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16352" y="4919472"/>
            <a:ext cx="36576" cy="8961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07792" y="4983480"/>
            <a:ext cx="4416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Core factual values grounded in source email
• All dates, amounts, specs match original Japanese
• Resolution log honest — escalated unknowable items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0920" y="4919472"/>
            <a:ext cx="4572000" cy="896112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60920" y="4919472"/>
            <a:ext cx="36576" cy="8961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52360" y="4983480"/>
            <a:ext cx="444398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Schema inflation: vendor sections created from nothing
• secondary_contact (6 fields) — no basis in buyer RFQ
• Wrong risk flag: 'No supplier details may delay RFQ'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" y="5907024"/>
            <a:ext cx="11676888" cy="512064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6032" y="5907024"/>
            <a:ext cx="91440" cy="512064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5980176"/>
            <a:ext cx="11402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Pipeline B Summary:  Factual extraction is good (Faithfulness 0.95), but schema inflation, missing domain fills, and wrong risk flags make the record incomplete for ERP use. Wins Faithfulness only; loses F1, Confidence, Hallucination, and Correctness.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DSPy Orchestrator — Evaluation Metrics &amp; Final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0BF"/>
                </a:solidFill>
              </a:rPr>
              <a:t>Pipeline A — Same Japanese RFQ — typed Signatures and structured audit vs direct agent chaining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554480" cy="32918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069848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0512" y="1005840"/>
            <a:ext cx="1005840" cy="32918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3664" y="1069848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1005840"/>
            <a:ext cx="4544568" cy="32918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1069848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Went Well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005840"/>
            <a:ext cx="4572000" cy="329184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1069848"/>
            <a:ext cx="4462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What Did NOT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335024"/>
            <a:ext cx="1554480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42646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F1 Score
(Extraction
Accuracy)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10512" y="1335024"/>
            <a:ext cx="1005840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47088" y="1426464"/>
            <a:ext cx="932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873E"/>
                </a:solidFill>
              </a:rPr>
              <a:t>0.87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6352" y="1335024"/>
            <a:ext cx="4544568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1335024"/>
            <a:ext cx="36576" cy="58521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1399032"/>
            <a:ext cx="4416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55 fields filled — 10 more than 2-Agent Direct (45)
• 7 domain defaults applied: Net 30, JCAA, force majeure…
• Only 2 genuine NEEDS_INPUT: rfq_id and reference_number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335024"/>
            <a:ext cx="4572000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335024"/>
            <a:ext cx="36576" cy="58521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399032"/>
            <a:ext cx="44439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Duplicate keys: delivery_schedule appears twice in output
• open_items returned as object {} not array [] — schema error
• amc_contract_duration duplicated in domain_specific_fields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1920240"/>
            <a:ext cx="15544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01168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Faithfulness
(Source
Grounding)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10512" y="1920240"/>
            <a:ext cx="100584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47088" y="2011680"/>
            <a:ext cx="932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873E"/>
                </a:solidFill>
              </a:rPr>
              <a:t>0.92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1920240"/>
            <a:ext cx="454456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16352" y="1920240"/>
            <a:ext cx="36576" cy="58521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07792" y="1984248"/>
            <a:ext cx="4416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All 40 core facts extracted and verified
• Japanese text fully translated — no residual characters
• Zero phantom sections — no vendor fields invented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1920240"/>
            <a:ext cx="45720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0920" y="1920240"/>
            <a:ext cx="36576" cy="58521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1984248"/>
            <a:ext cx="44439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Dates in ISO format (2026-09-15) instead of 'Sep 15, 2026'
• Inferred 'Global Parts Co., Ltd.' from email address alone
• 3 real procurement risks not surfaced in risk_flags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505456"/>
            <a:ext cx="1554480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2596896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Output
Relevancy
(Confidence)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10512" y="2505456"/>
            <a:ext cx="1005840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2596896"/>
            <a:ext cx="932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873E"/>
                </a:solidFill>
              </a:rPr>
              <a:t>79%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16352" y="2505456"/>
            <a:ext cx="4544568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16352" y="2505456"/>
            <a:ext cx="36576" cy="58521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07792" y="2569464"/>
            <a:ext cx="4416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ERP-ready record — all standard domain fields filled
• Laws of Japan, JCAA arbitration, bid_validity_days applied
• +23% confidence vs Pipeline B (79% vs 64%)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2505456"/>
            <a:ext cx="4572000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60920" y="2505456"/>
            <a:ext cx="36576" cy="58521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2569464"/>
            <a:ext cx="44439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risk_flags: [] — 3 critical risks missed completely
• AMC scope, budget tax exclusion, no RFQ ref — all un-flagged
• Completeness 'mostly_complete' — 2 NEEDS_INPUT remain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3090672"/>
            <a:ext cx="15544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318211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Output
Correctness
(Field Quality)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10512" y="3090672"/>
            <a:ext cx="100584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47088" y="3182112"/>
            <a:ext cx="932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873E"/>
                </a:solidFill>
              </a:rPr>
              <a:t>0.88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16352" y="3090672"/>
            <a:ext cx="4544568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16352" y="3090672"/>
            <a:ext cx="36576" cy="58521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07792" y="3154680"/>
            <a:ext cx="4416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AuditSignature validates every field vs source email
• Domain fills: Net 30, JCAA, force_majeure, evaluation_criteria
• Resolution log documents all merge/drop decisions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60920" y="3090672"/>
            <a:ext cx="45720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60920" y="3090672"/>
            <a:ext cx="36576" cy="58521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3154680"/>
            <a:ext cx="44439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open_items schema error: {} not [] — downstream parse issue
• Delivery dates ISO format — minor but affects faithfulness
• Resolution log only 2 entries (4 in Pipeline B)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" y="3675888"/>
            <a:ext cx="1554480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376732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Hallucination
Rate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10512" y="3675888"/>
            <a:ext cx="1005840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47088" y="3767328"/>
            <a:ext cx="932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B873E"/>
                </a:solidFill>
              </a:rPr>
              <a:t>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16352" y="3675888"/>
            <a:ext cx="4544568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16352" y="3675888"/>
            <a:ext cx="36576" cy="58521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07792" y="3739896"/>
            <a:ext cx="44165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AuditSignature eliminates phantom sections — zero inflation
• No responding_party or secondary_contact invented
• Hallucination nearly halved vs Pipeline B (8% vs 15%)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60920" y="3675888"/>
            <a:ext cx="4572000" cy="585216"/>
          </a:xfrm>
          <a:prstGeom prst="rect">
            <a:avLst/>
          </a:prstGeom>
          <a:solidFill>
            <a:srgbClr val="F5F5F5"/>
          </a:solidFill>
          <a:ln w="381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60920" y="3675888"/>
            <a:ext cx="36576" cy="58521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52360" y="3739896"/>
            <a:ext cx="44439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• 'Global Parts Co., Ltd.' inferred from email domain — unverified
• Empty risk_flags is a silent miss — not a hallucination, but a gap
• Both pipelines share this risk blind spot — top fix priority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" y="4370832"/>
            <a:ext cx="11676888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4407408"/>
            <a:ext cx="11494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FINAL COMPARISON — Pipeline A (DSPy) vs Pipeline B (2-Agent Direct)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" y="4626864"/>
            <a:ext cx="155448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46817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10512" y="4626864"/>
            <a:ext cx="96012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65376" y="468172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No-DSPy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70632" y="4626864"/>
            <a:ext cx="96012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25496" y="468172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DSPy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30752" y="4626864"/>
            <a:ext cx="82296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85616" y="46817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Delta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3712" y="4626864"/>
            <a:ext cx="7379208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08576" y="4681728"/>
            <a:ext cx="7287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" y="4901184"/>
            <a:ext cx="155448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" y="49560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F1 Score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10512" y="4901184"/>
            <a:ext cx="96012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65376" y="495604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B262A"/>
                </a:solidFill>
              </a:rPr>
              <a:t>0.83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70632" y="4901184"/>
            <a:ext cx="96012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25496" y="495604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873E"/>
                </a:solidFill>
              </a:rPr>
              <a:t>0.87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30752" y="4901184"/>
            <a:ext cx="82296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776472" y="4946904"/>
            <a:ext cx="731520" cy="18288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76472" y="494690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+5%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53712" y="4901184"/>
            <a:ext cx="7379208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26864" y="4956048"/>
            <a:ext cx="7251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DSPy — 7 domain defaults; fewer structural errors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6032" y="5175504"/>
            <a:ext cx="1554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10896" y="52303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Faithfulness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10512" y="5175504"/>
            <a:ext cx="96012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65376" y="523036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B262A"/>
                </a:solidFill>
              </a:rPr>
              <a:t>0.95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70632" y="5175504"/>
            <a:ext cx="96012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25496" y="523036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35A00"/>
                </a:solidFill>
              </a:rPr>
              <a:t>0.92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730752" y="5175504"/>
            <a:ext cx="8229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76472" y="5221224"/>
            <a:ext cx="731520" cy="182880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76472" y="52212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−3 pp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53712" y="5175504"/>
            <a:ext cx="7379208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26864" y="5230368"/>
            <a:ext cx="7251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No-DSPy — readable dates, Japanese traceability brackets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032" y="5449824"/>
            <a:ext cx="155448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0896" y="550468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Output Relevancy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10512" y="5449824"/>
            <a:ext cx="96012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865376" y="550468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B262A"/>
                </a:solidFill>
              </a:rPr>
              <a:t>64%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70632" y="5449824"/>
            <a:ext cx="96012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825496" y="550468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873E"/>
                </a:solidFill>
              </a:rPr>
              <a:t>79%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730752" y="5449824"/>
            <a:ext cx="82296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776472" y="5495544"/>
            <a:ext cx="731520" cy="18288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76472" y="54955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+23%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53712" y="5449824"/>
            <a:ext cx="7379208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26864" y="5504688"/>
            <a:ext cx="7251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DSPy — 55 vs 45 fields; only 2 genuine NEEDS_INPUT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56032" y="5724144"/>
            <a:ext cx="155448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" y="57790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Hallucination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810512" y="5724144"/>
            <a:ext cx="96012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865376" y="57790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B262A"/>
                </a:solidFill>
              </a:rPr>
              <a:t>15%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70632" y="5724144"/>
            <a:ext cx="96012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825496" y="577900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873E"/>
                </a:solidFill>
              </a:rPr>
              <a:t>8%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730752" y="5724144"/>
            <a:ext cx="822960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776472" y="5769864"/>
            <a:ext cx="731520" cy="18288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776472" y="57698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−47%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53712" y="5724144"/>
            <a:ext cx="7379208" cy="274320"/>
          </a:xfrm>
          <a:prstGeom prst="rect">
            <a:avLst/>
          </a:prstGeom>
          <a:solidFill>
            <a:srgbClr val="FFFFFF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626864" y="5779008"/>
            <a:ext cx="7251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DSPy — zero phantom sections; no schema inflation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56032" y="5998464"/>
            <a:ext cx="155448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0896" y="6053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Output Correct.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10512" y="5998464"/>
            <a:ext cx="96012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865376" y="605332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B262A"/>
                </a:solidFill>
              </a:rPr>
              <a:t>0.80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70632" y="5998464"/>
            <a:ext cx="96012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825496" y="6053328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873E"/>
                </a:solidFill>
              </a:rPr>
              <a:t>0.88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730752" y="5998464"/>
            <a:ext cx="822960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776472" y="6044184"/>
            <a:ext cx="731520" cy="182880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776472" y="604418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+10%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53712" y="5998464"/>
            <a:ext cx="7379208" cy="274320"/>
          </a:xfrm>
          <a:prstGeom prst="rect">
            <a:avLst/>
          </a:prstGeom>
          <a:solidFill>
            <a:srgbClr val="F5F5F5"/>
          </a:solidFill>
          <a:ln w="31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626864" y="6053328"/>
            <a:ext cx="7251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</a:rPr>
              <a:t>DSPy — AuditSignature prevents drift; domain fills applied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56032" y="6327648"/>
            <a:ext cx="11676888" cy="329184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56032" y="6327648"/>
            <a:ext cx="91440" cy="32918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38912" y="6373368"/>
            <a:ext cx="11402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1C1C"/>
                </a:solidFill>
              </a:rPr>
              <a:t>VERDICT: DSPy Orchestrator wins 4 of 5 metrics — lower hallucination (8% vs 15%), better coverage (55 vs 45 fields), higher confidence (79% vs 64%), better correctness. No-DSPy wins Faithfulness (0.95 vs 0.92) via readable dates and Japanese brackets. Critical gap for BOTH: add RiskSignature to surface AMC scope, tax, and RFQ ID risks.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odapt Template" id="{BEA06CDB-37E2-4EB1-900A-1551629CEA0E}" vid="{BBDB73F9-D2B3-48F7-985A-E3E6915AEB01}"/>
    </a:ext>
  </a:extLst>
</a:theme>
</file>

<file path=ppt/theme/theme2.xml><?xml version="1.0" encoding="utf-8"?>
<a:theme xmlns:a="http://schemas.openxmlformats.org/drawingml/2006/main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esentation1" id="{F15BEDC6-FB48-47A5-80AF-B11DDDEE5AA1}" vid="{08D7E6E7-F3BD-41C5-BA27-B03C5328B8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07E57A-CA57-4777-9559-C7DC9DFFE602}">
  <we:reference id="f5f369e5-aa35-49d7-ad7b-638152ddb008" version="1.0.0.1" store="excatalog" storeType="excatalog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539141-1d24-469a-8c72-ac806e3c9d09">
      <Terms xmlns="http://schemas.microsoft.com/office/infopath/2007/PartnerControls"/>
    </lcf76f155ced4ddcb4097134ff3c332f>
    <TaxCatchAll xmlns="d094aa81-11af-402c-8a55-d570af07a0a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562D50054BE4089858ABA81ECFE52" ma:contentTypeVersion="12" ma:contentTypeDescription="Create a new document." ma:contentTypeScope="" ma:versionID="916f91e18bc73d2a72e51933fb9a2e2c">
  <xsd:schema xmlns:xsd="http://www.w3.org/2001/XMLSchema" xmlns:xs="http://www.w3.org/2001/XMLSchema" xmlns:p="http://schemas.microsoft.com/office/2006/metadata/properties" xmlns:ns2="b2539141-1d24-469a-8c72-ac806e3c9d09" xmlns:ns3="d094aa81-11af-402c-8a55-d570af07a0a0" targetNamespace="http://schemas.microsoft.com/office/2006/metadata/properties" ma:root="true" ma:fieldsID="4866675fb9fbe3cf38b39c7212216526" ns2:_="" ns3:_="">
    <xsd:import namespace="b2539141-1d24-469a-8c72-ac806e3c9d09"/>
    <xsd:import namespace="d094aa81-11af-402c-8a55-d570af07a0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39141-1d24-469a-8c72-ac806e3c9d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7f86abb-38d7-41bf-bac4-7745b1ce4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94aa81-11af-402c-8a55-d570af07a0a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32cf5fc-88d0-46ca-a8f5-356c383ddebb}" ma:internalName="TaxCatchAll" ma:showField="CatchAllData" ma:web="d094aa81-11af-402c-8a55-d570af07a0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CF3A99-51F0-43A9-87E1-C8A5C1302A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6E059C-EB5A-4ADE-85E0-7FB6777C39D8}">
  <ds:schemaRefs>
    <ds:schemaRef ds:uri="b2539141-1d24-469a-8c72-ac806e3c9d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094aa81-11af-402c-8a55-d570af07a0a0"/>
  </ds:schemaRefs>
</ds:datastoreItem>
</file>

<file path=customXml/itemProps3.xml><?xml version="1.0" encoding="utf-8"?>
<ds:datastoreItem xmlns:ds="http://schemas.openxmlformats.org/officeDocument/2006/customXml" ds:itemID="{547996D4-D8DF-4F6A-9496-56D6C65F8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39141-1d24-469a-8c72-ac806e3c9d09"/>
    <ds:schemaRef ds:uri="d094aa81-11af-402c-8a55-d570af07a0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1_Theme - Prodapt PPT</vt:lpstr>
      <vt:lpstr>Theme - Prodapt PPT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P</dc:creator>
  <cp:revision>17</cp:revision>
  <dcterms:created xsi:type="dcterms:W3CDTF">2026-05-08T09:09:19Z</dcterms:created>
  <dcterms:modified xsi:type="dcterms:W3CDTF">2026-05-29T07:17:35Z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0x010100C2F562D50054BE4089858ABA81ECFE52</vt:lpwstr>
  </property>
  <property fmtid="{D5CDD505-2E9C-101B-9397-08002B2CF9AE}" pid="3" name="MediaServiceImageTags">
    <vt:lpwstr/>
  </property>
</Properties>
</file>