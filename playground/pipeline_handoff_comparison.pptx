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3840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88952" cy="1463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HANDOFF STRATEGY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FFF"/>
                </a:solidFill>
              </a:rPr>
              <a:t>Input Emails vs Pipeline Outputs — Case 1 (DSPy Handoff) vs Case 2 (System Instructions)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5E8"/>
                </a:solidFill>
              </a:rPr>
              <a:t>10 procurement emails  ·  all 10 domains  ·  3 evaluation metrics per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5029200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Agent-1 → DSPy → Agent-2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200400"/>
            <a:ext cx="5029200" cy="64008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36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36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Agent-1 → Sys Instr → Agent-2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Source: dspy_handoff.ipynb — actual Azure GPT-4o outputs  ·  CodeForge Research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Pipeline Architecture — What Each Case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66928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472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7282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Raw procurement email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8658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41448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41448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496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Agent-1 (Extract)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523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email · Captures only stated facts
Builds field_inventory with "" for missing fields
Outputs: document_meta, context, extracted_values,
field_inventory (with gaps), open_items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41071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65576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465576"/>
            <a:ext cx="164592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520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DSPy HandoffSignature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776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Scans every "" in field_inventory
Writes fill_instructions per field:
  DERIVE / DOMAIN_DEFAULT / NEEDS_INPUT
Passes: original JSON + fill_instructions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43484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89704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489704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544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Agent-2 (Enrich)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800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fill_instructions (targeted per field)
Fills each gap using the specified strategy
Validates: completeness, risk_flags,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45896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13832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513832"/>
            <a:ext cx="164592" cy="9601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55686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Final JSON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8247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Complete structured procurement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987552"/>
            <a:ext cx="5669280" cy="347472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2 — System Instructions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417320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417320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1472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17282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Raw procurement email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38658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441448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2441448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2496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Agent-1 (Extract)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27523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Reads email · Captures only stated facts
Builds field_inventory with "" for missing fields
Outputs: document_meta, context, extracted_values,
field_inventory (with gaps), open_items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41071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465576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465576"/>
            <a:ext cx="164592" cy="96012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4" y="3520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Python Glue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3776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Appends static instruction block:
"Fill every "" field using derivation
or domain knowledge. Validate."
No field-specific guidance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43484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489704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4489704"/>
            <a:ext cx="164592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4544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Agent-2 (Enrich)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4800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Receives JSON + same generic instruction
Must figure out fill strategy per field itself
Validates: completeness, risk_flags,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45896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513832"/>
            <a:ext cx="566928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513832"/>
            <a:ext cx="164592" cy="9601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47104" y="55686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Final JSON 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47104" y="58247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Complete structured procurement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Input Emails — Summary of 10 Procurement RFQs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What each email states explicitly — the ground truth for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02412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02412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02412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1024128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1024128"/>
            <a:ext cx="1453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02412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1024128"/>
            <a:ext cx="3904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35024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14264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142646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1426464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1426464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₹2.2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142646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15 units 6-axis robots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1426464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15,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6" y="1426464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KUKA/ABB equiv · AMC pricing · warranty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856231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947671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1947671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1947671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Manufacturing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1947671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€18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6" y="1947671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2800 LFP packs (2 SKUs)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1947671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Sep–Oct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6" y="1947671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UN38.3 cert · traceability · cell-level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377438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2468878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468878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5456" y="2468878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IT 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8496" y="2468878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$1,20,000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0056" y="246887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120 laptops i7/16GB/512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2468878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 5,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6" y="2468878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Dell/Lenovo/HP only · onsite setup 30 units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98645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2990085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2990085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OLED Panels 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5456" y="2990085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Electronics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8496" y="2990085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$750K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0056" y="2990085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50K AMOLED 6.7in 120Hz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2990085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Jul–Sep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08976" y="2990085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2 variants FP/no-FP · burn-in reports · defect SLA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19852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511292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35112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5456" y="3511292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Facilities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68496" y="3511292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₹85 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0056" y="3511292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200 chairs+desks+tables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8816" y="3511292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10,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8976" y="3511292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Elec sit-stand preferred · 1-2 references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41059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6" y="4032499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4032499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Smartphones 1200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5456" y="4032499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Retail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68496" y="4032499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₹6.2 Cr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0056" y="4032499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800 mid + 400 premium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8816" y="4032499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1,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08976" y="4032499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BIS cert · 1-yr warranty · India variant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462266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455370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" y="4553706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Electric Vans x75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05456" y="4553706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Fleet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8496" y="4553706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₹18 Cr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0056" y="4553706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75 EV vans 150km/800kg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8816" y="4553706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Sep–Jan 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08976" y="4553706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AMC 3yr · RTO registration · 3-phase delivery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983473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3776" y="5074913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" y="5074913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Kitchen Equipment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05456" y="5074913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Hospitality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68496" y="5074913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£360K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0056" y="5074913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3 kitchens full fit-out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28816" y="5074913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Sep 20,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8976" y="5074913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CE/UK standards · hotel experience · commissioning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5046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" y="5596120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9536" y="5596120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 Classrooms 500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05456" y="5596120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Govt. Tender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68496" y="559612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₹42 Cr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0056" y="5596120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500 schools IFP+audio+UPS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28816" y="5596120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Oct–Feb 2027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08976" y="5596120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EMD ₹42L · e-procurement portal · 3yr warranty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6025887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3776" y="6117327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" y="6117327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Aluminium Supply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05456" y="6117327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Contract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68496" y="6117327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~₹8 Cr/yr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0056" y="6117327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65 MT/mo sheets+coils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28816" y="6117327"/>
            <a:ext cx="1225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Jul 2026+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8976" y="6117327"/>
            <a:ext cx="3904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IS 737 grade · MTR per lot · 12+12 mo option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6510528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7 domain types · 4 currencies · Mix of single-lot, multi-lot, phased, and contract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Scores — All 10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Correctness / Coverage / Structure  (each 0–10)  |  Total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9264"/>
            <a:ext cx="352044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875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Case 2 — System Instructions (Without DSPy)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969264"/>
            <a:ext cx="352044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9875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11887200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31673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316736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1316736"/>
            <a:ext cx="1636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Cov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31673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4501A"/>
                </a:solidFill>
              </a:rPr>
              <a:t>Tot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Cor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Cov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3167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131673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F"/>
                </a:solidFill>
              </a:rPr>
              <a:t>Tot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627632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75564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17556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Manufacturing RFQ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1700784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1700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75564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170078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1700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121408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224942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2494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224942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Manufacturing RFQ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194560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224942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20" y="2194560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2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615184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274320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27432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27432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IT Hardware RFQ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2688336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274320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61320" y="2688336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108960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3776" y="323697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32369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OLED Panels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32369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Electronics RFQ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3182112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46920" y="3236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1320" y="3182112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132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602736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" y="37307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37307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68880" y="37307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Facilities RFQ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492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3675888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3675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7824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373075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1320" y="3675888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1320" y="3675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096512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3776" y="422452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42245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Smartphones 1200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68880" y="42245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Consumer/Retail RFQ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624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7492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0" y="4169664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5800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6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7824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46920" y="422452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561320" y="416966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6132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" y="4590288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" y="47183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" y="47183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Electric Vans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68880" y="471830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Fleet Procurement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624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7492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4360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8000" y="4663440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5800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7824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46920" y="47183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561320" y="4663440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56132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5084064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93776" y="521208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" y="52120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Kitchen Equipment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468880" y="52120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Hospitality RFQ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0624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7492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4360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58000" y="5157216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58000" y="5157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0956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7824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46920" y="52120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61320" y="5157216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61320" y="5157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7200" y="5577840"/>
            <a:ext cx="11887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93776" y="570585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2960" y="570585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Smart Classrooms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68880" y="570585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Govt. Tender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0624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7492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4360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58000" y="5650992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858000" y="5650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90956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77824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46920" y="570585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561320" y="5650992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561320" y="5650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6071616"/>
            <a:ext cx="11887200" cy="475488"/>
          </a:xfrm>
          <a:prstGeom prst="rect">
            <a:avLst/>
          </a:prstGeom>
          <a:solidFill>
            <a:srgbClr val="F7F9FC"/>
          </a:solidFill>
          <a:ln w="508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93776" y="619963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22960" y="61996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Aluminium Supply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68880" y="6199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12-month Contract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0624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7492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4360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858000" y="6144768"/>
            <a:ext cx="91440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0" y="6144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0956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77824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646920" y="61996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561320" y="6144768"/>
            <a:ext cx="914400" cy="347472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561320" y="6144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24009"/>
                </a:solidFill>
              </a:rPr>
              <a:t>23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6565392"/>
            <a:ext cx="11887200" cy="45720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2960" y="6693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0624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6.0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7492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5.0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94360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6.0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1228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1A"/>
                </a:solidFill>
              </a:rPr>
              <a:t>17.0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0956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8.3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77824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8.8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64692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9.0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15600" y="669340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26.1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EMAIL_01 — Welding Robots  (Manufacturing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₹2.2 Cr  ·  Buyer: Delta Infrastructure  ·  Bid: June 10, 2026  ·  Delivery: Aug 15,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 team,  Hope you're all doing well over there! It's been a while since we last connected — I think the last time we spoke was at the Mumbai Manufacturing Expo back in February. Anyway, I wanted to reach out because we'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₹2.2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15,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Sandeep Rao
  sender_title: Procurement Head
  sender_company: Delta Infrastructure Pvt. Ltd.
  sender_email: sandeep.rao@delta-infra.com
  sender_phone: +91-98201-44321
  recipient_email: bids@acmecorp.com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AMC pricing scope and duration are undefined.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Warranty terms are vague and lack specifics.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36792" y="5513832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01384" y="54681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Criteria for equivalent brands are not provided.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The sender has requested AMC pricing but has not specified the duration or scope of the AM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27/30    Winner: Case 1 (DSPy)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EMAIL_02 — EV Battery Packs  (Manufacturing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€18 M  ·  Buyer: Greenfield Auto  ·  Bid: June 20, 2026  ·  Delivery: Sep-Oct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Vendor,  Good afternoon. We are reaching out to a select group of pre-qualified suppliers for a critical Q3 procurement. Greenfield Auto is scaling EV production at our Leipzig plant and we need reliable battery sup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2800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€18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Sep-Oct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18/20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Marco Klein
  sender_title: Supply Chain Director
  sender_company: Greenfield Auto GmbH
  sender_email: marco.klein@greenfield-auto.com
  sender_phone: +49-341-8821-204
  recipient_email: vendors@acmemotors.com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No reference number provided, which may hinder tracking.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Payment terms are undefined, which could lead to disputes.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 reference number was provided for this RFQ.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27/30    Winner: Case 1 (DSPy)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EMAIL_03 — Laptop Procurement  (IT Hardware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$1,20,000  ·  Buyer: NovaTech Solutions  ·  Bid: June 12, 2026  ·  Delivery: Jul 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Hello,  I hope this finds you well. We are expanding our engineering team significantly this quarter and need to move fast on a laptop procurement. I'm reaching out to a few vendors we've worked with before — you're on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$1,20,000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 5,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quantity: 120
  specifications: 16GB RAM, 512GB SSD, Intel i7 13th gen or equivalent, 1
  preferred_brands: Dell Latitude, Lenovo ThinkPad, HP EliteBook
  budget_ceiling: $1,20,000
  delivery_location: Bangalore office
  delivery_deadline: July 5,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26/30    Winner: Case 1 (DSPy)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EMAIL_04 — OLED Panels  (Electronics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$750,000  ·  Buyer: Metro Display Tech  ·  Bid: June 18, 2026  ·  Delivery: Jul-Sep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We spoke briefly at Display Week last month and you mentioned you could handle large panel orders. I'm following up on that now as we have a firm requirement.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50000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$750,000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18,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Jul-Sep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24/27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product: 6.7 inch AMOLED panels
  specifications: {refresh_rate=120Hz, resolution=2400x1080}
  quantity: 50000
  budget_per_unit: 15
  total_budget: 750000
  delivery_schedule: {'quantity': 25000, 'location': 'Shenzhen warehous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Missing RFQ reference or identifier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Recipient contact details are incomplete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 RFQ reference or identifier was provided in the document. This needs to be clarified.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27/30    Winner: Case 1 (DSPy)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EMAIL_05 — Office Furniture  (Facilities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₹85 L  ·  Buyer: GlobalSpace Offices  ·  Bid: June 25, 2026  ·  Delivery: Aug 10,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Team,  We are setting up a new 200-seat office in Hyderabad (HITEC City) and are looking for a complete furniture vendor. This is a one-time large order and we want to close the vendor by end of June.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200-seat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₹85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25,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10,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27/27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office_location: Hyderabad (HITEC City)
  total_seats: 200
  furniture_requirements: {ergonomic_office_chairs=200, sit_stand_desks=}
  budget: ₹85 lakhs
  delivery_deadline: August 10, 2026
  team_move_in_date: August 15,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26/30    Winner: Case 1 (DSPy)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EMAIL_06 — Smartphones 1200  (Consumer/Retail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₹6.2 Cr  ·  Buyer: ConnectHub India  ·  Bid: June 14, 2026  ·  Delivery: Aug 1,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ConnectHub is planning a large bulk handset purchase for Q3 resale and corporate gifting programs. We've bought from a couple of vendors in the past but want to widen our options this cycle — hence reaching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1200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₹6.2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14,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Aug 1,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sender_name: Rahul Menon
  sender_email: rahul.menon@connecthub.in
  sender_phone: +91-98112-77654
  recipient_email: bids@acmecorp.com
  order_quantity: 1200
  mid_range_quantity: 800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26/30    Winner: Case 1 (DSPy)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EMAIL_07 — Electric Vans  (Fleet Procurement)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₹18 Cr  ·  Buyer: UrbanMove Logistics  ·  Bid: June 28, 2026  ·  Delivery: Sep-Jan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Good morning,  UrbanMove Logistics is expanding our last-mile delivery fleet in FY2026-27 and we are in the market for 75 electric delivery vans. This is part of our green fleet transition — we're moving away from CNG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₹18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28,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Sep-Jan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27/28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fleet_size: 75
  specifications: {range=minimum 150km real-world range, payload}
  acceptable_models: Tata Ace EV, Mahindra Treo Zor Plus, equivalent
  budget: ₹18 crore
  delivery_schedule: {phase_1=25 vans by September 30, 2026, phase_}
  delivery_location: Navi Mumbai depot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818888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773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Unclear AMC terms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166360"/>
            <a:ext cx="91440" cy="20116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4" y="5120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Ambiguity in equivalent model 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__NEEDS_INPUT__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27/30    Winner: Case 1 (DSPy)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EMAIL_08 — Kitchen Equipment  (Hospitality RFQ)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£360,000  ·  Buyer: GrandVista Hotels  ·  Bid: June 30, 2026  ·  Delivery: Sep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Hello,  I hope you're having a good week. We are opening a new 220-room property in Edinburgh in October 2026 and are procuring commercial kitchen equipment for the main restaurant, banquet kitchen, and staff canteen.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3 kitchens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£360,000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30,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Sep 20,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property_size: 220-room
  location: Edinburgh
  opening_date: October 2026
  equipment_list: 4 heavy-duty combi ovens, 6 commercial induction r
  budget: £360,000
  standards: UK/CE standards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__NEEDS_INPUT__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26/30    Winner: Case 1 (DSPy)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EMAIL_09 — Smart Classrooms  (Govt. Tender)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₹42 Cr  ·  Buyer: State Edu Dept.  ·  Bid: June 30, 2026  ·  Delivery: Oct-Feb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Dear Sir/Madam,  This is a formal bid invitation on behalf of the State Department of School Education for the supply and installation of smart classroom infrastructure across 500 government schools in the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₹42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30,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Oct-Feb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26/26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scope_per_school: {interactive_flat_panel=75 inch, 4K, Android-b}
  total_project_value: ₹42 crore
  cost_per_school: ₹8.4 lakh
  deployment_timeline: {phase_1={'schools': 200, 'deadline': 'October}
  emd_amount: ₹42 lakhs
  bid_submission_deadline: June 30,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26/30    Winner: Case 1 (DSPy)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EMAIL_10 — Aluminium Supply  (12-month Contract)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Budget: ~₹8 Cr/yr  ·  Buyer: FastPack Mfg.  ·  Bid: June 22, 2026  ·  Delivery: Jul 2026+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10058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2412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84A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241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Hi,  Good morning. We've been sourcing aluminium from our current vendor for three years but have had too many delays this year — so we're exploring alternatives. A colleague recommended you, so I thought I'd reach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Qty/Scope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65 MT/mo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~₹8 Cr/yr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Bid Deadline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June 22,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00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Jul 2026+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562356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2 — Without DSPy (System Instructions)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2356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Case 1 — With DSPy Handoff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0/0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14016"/>
            <a:ext cx="5623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Domain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procurement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Filled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4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B47"/>
                </a:solidFill>
              </a:rPr>
              <a:t>21/27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Needs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768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Risk Flags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81A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450592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</a:rPr>
              <a:t>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63347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9"/>
                </a:solidFill>
              </a:rPr>
              <a:t>mostly_complet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27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</a:rPr>
              <a:t>Key extracted 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(no extracted_values)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383280"/>
            <a:ext cx="5440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  current_vendor_duration: three years
  aluminium_sheets_specifications: {thickness=['3mm', '5mm'], grade=IS 737}
  aluminium_coils_specifications: {thickness=['1.5mm', '2mm'], grade=IS 737}
  target_price: {sheets=₹190 per kg, coils=₹195 per kg}
  delivery_location: Bhiwandi plant, Maharashtra
  first_delivery_date: July 1,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80560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Risk Flags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01A"/>
                </a:solidFill>
              </a:rPr>
              <a:t>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5262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Risk Flags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4773168"/>
            <a:ext cx="1097280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7914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9181A"/>
                </a:solidFill>
              </a:rPr>
              <a:t>No flags raised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55778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Open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58155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['financial.gst_breakup', 'parties.approvers', 'parties.third_parties', 'location.service_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73952"/>
            <a:ext cx="11274552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Score:  Case 2 = 17/30    Case 1 = 23/30    Winner: Case 1 (DSPy)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Aggregated Comparison — All 10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Fields filled · Needs-input · Risk flags · Completeness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Case 2 — Without DSPy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Case 1 — With DSPy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35024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17904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Total fields filled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26464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426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26464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26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233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11274552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31136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Fields still needs-input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139696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139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39696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139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181A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61488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4436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Risk flags raised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852928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852928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11274552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'complete' ratings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566160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566160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87952"/>
            <a:ext cx="1127455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70832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'mostly_complete' ratings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279392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279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501A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279392"/>
            <a:ext cx="320040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279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7B47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7132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5721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Average score:   Case 2 (Without DSPy) = 17.0/30     Case 1 (With DSPy) = 26.1/30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02C"/>
                </a:solidFill>
              </a:rPr>
              <a:t>Email-by-email winner: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01
C1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5968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5968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02
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7216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57216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03
C1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98464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04
C1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39712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9712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05
C1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06
C1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22208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22208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07
C1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63456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63456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08
C1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04704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04704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09
C1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5952" y="5806440"/>
            <a:ext cx="749808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45952" y="5833872"/>
            <a:ext cx="749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10
C1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Differences — What the Outputs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Based on actual pipeline outputs across all 10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987552"/>
            <a:ext cx="3703320" cy="31089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00584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Case 1 — DSPy 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987552"/>
            <a:ext cx="3703320" cy="310896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00584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Case 2 — System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46304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fill_instructions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37160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1371600"/>
            <a:ext cx="128016" cy="1691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19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DSPy writes per-field strategy: DERIVE / DOMAIN_DEFAULT / NEEDS_INPUT
Agent-2 has a clear roadmap for each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37160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371600"/>
            <a:ext cx="128016" cy="169164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Agent-2 receives a generic 'fill the blanks' instruction
Must infer the fill strategy itself for every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37160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46304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Risk flag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Surfaces specific risks: AMC scope undefined, warranty vague,
budget tax-inclusive?, equivalent model criteria missing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37160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37160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148132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risk_flags: [] in 6 of 7 evaluated emails
Real risks go unreported to reviewers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5468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24612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 classification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15468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48840" y="315468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19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Consistent 'procurement' domain across all emails
record_type correctly set per email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15468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154680"/>
            <a:ext cx="128016" cy="169164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Maps to sub-domains: 'manufacturing', 'retail', 'IT'
Leads to cross-domain field contamination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15468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24612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Missing fields (needs-input)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15468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15468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9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Fewer __NEEDS_INPUT__ entries — DSPy pre-identifies
which fields can be derived vs truly unknown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315468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315468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326440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More __NEEDS_INPUT__ entries — Agent-2 marks more fields
as unknowable without the targeted derive hints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3776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02920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Output size / token use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493776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48840" y="4937760"/>
            <a:ext cx="128016" cy="169164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19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3 LLM calls (Agent-1, DSPy, Agent-2)
~4,300 chars average final output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493776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60520" y="493776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2 LLM calls (Agent-1, Agent-2)
~6,200 chars average final output (more noise)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937760"/>
            <a:ext cx="1664208" cy="16916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5029200"/>
            <a:ext cx="15361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Optimisability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937760"/>
            <a:ext cx="1938528" cy="169164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0" y="4937760"/>
            <a:ext cx="128016" cy="16916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599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HandoffSignature is a DSPy module
BootstrapFewShot can improve it from labelled examples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4937760"/>
            <a:ext cx="1938528" cy="169164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8400" y="4937760"/>
            <a:ext cx="128016" cy="169164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5047488"/>
            <a:ext cx="1691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</a:rPr>
              <a:t>Static instruction string
Cannot be automatically improved by DSPy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Based on actual output comparison across all 10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82880" cy="10241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078992"/>
            <a:ext cx="868680" cy="25603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0881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07899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Use Case 1 (DSPy Handoff) for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140817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Higher average score (26.1/30 vs 17.0/30). Risk flags are surfaced correctly. fill_instructions give Agent-2 a targeted roadmap. Domain classification is consistent across all 10 domains.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82880" cy="10241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176272"/>
            <a:ext cx="868680" cy="256032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17627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Correct 3 minor DSPy issues before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250545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1) completeness = 'complete' when &gt;20% fields were inferred — tighten the threshold.  2) open_items format inconsistency (dict vs array) in some emails.  3) Add 'rfq' as a valid record_type value in Agent-1's classification vocabulary.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182880" cy="10241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273552"/>
            <a:ext cx="868680" cy="25603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2826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RETIRE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27355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Retire Case 2 (System Instructions) for complex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360273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Empty risk_flags in 6/10 emails is a structural problem — not fixable by tweaking the static instruction string. The agent must figure out field strategy without guidance, leading to more __NEEDS_INPUT__ entries and missed risk signals.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82880" cy="10241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370832"/>
            <a:ext cx="868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3799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437083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Compile HandoffSignature with BootstrapFewShot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470001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DSPy HandoffSignature currently runs zero-shot. Adding 5–10 labelled examples (email → ideal fill_instructions) via BootstrapFewShot would push fill accuracy higher, especially for complex multi-lot and government tender emails.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82880" cy="10241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468112"/>
            <a:ext cx="868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47725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EXTEND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546811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Run dspy_vs_direct_handoff.ipynb on all 10 emails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5797296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new notebook implements the exact Case 1 / Case 2 flows described here. Run it with Azure credentials to get fresh outputs and compare against this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