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  <p:sldMasterId id="2147483750" r:id="rId5"/>
  </p:sldMasterIdLst>
  <p:notesMasterIdLst>
    <p:notesMasterId r:id="rId7"/>
  </p:notesMasterIdLst>
  <p:sldIdLst>
    <p:sldId id="256" r:id="rId6"/>
    <p:sldId id="257" r:id="rId13"/>
    <p:sldId id="258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32480-AB4D-BA81-F02D-7E861F173148}" v="29" dt="2026-05-29T07:17:12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AC9AB-10AF-43D4-938D-CAE13FA6803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932A8-3EB0-4B56-AF58-8A7129F90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06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://www.prodapt.com/" TargetMode="Externa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6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eg"/><Relationship Id="rId3" Type="http://schemas.openxmlformats.org/officeDocument/2006/relationships/image" Target="../media/image1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://www.prodapt.com/" TargetMode="Externa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323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41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27514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22042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67712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26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86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66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building&#10;&#10;Description automatically generated">
            <a:extLst>
              <a:ext uri="{FF2B5EF4-FFF2-40B4-BE49-F238E27FC236}">
                <a16:creationId xmlns:a16="http://schemas.microsoft.com/office/drawing/2014/main" id="{4B25582B-329F-41DD-0BF1-85B6B7765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51427" cy="68614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40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13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74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395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377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08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74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214953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80363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124832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98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28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37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156047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13995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9958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251862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492190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7158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8926783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53441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8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85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4358156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34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8235551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5288218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986325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438052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64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953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367903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 slid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5AA4347-1007-81BD-5B10-67FA43883F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996" y="1326117"/>
            <a:ext cx="5606503" cy="4926328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8800">
                <a:latin typeface="KareliaWeb Regular" panose="00000500000000000000" pitchFamily="2" charset="0"/>
              </a:defRPr>
            </a:lvl1pPr>
          </a:lstStyle>
          <a:p>
            <a:pPr lvl="0"/>
            <a:r>
              <a:rPr lang="en-IN"/>
              <a:t>2500+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36E1D0-68B8-A965-0A1A-DA590EE34C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1A93513-D318-1B19-286C-9796FF0D75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Number slide with description</a:t>
            </a:r>
            <a:endParaRPr lang="en-US"/>
          </a:p>
        </p:txBody>
      </p:sp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6FAFAFC1-6AB8-4C96-F015-5EEC407D0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09" y="1326118"/>
            <a:ext cx="5710095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6BDFB01-C023-6344-EBC0-2F8F33A066F3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752845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14262538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5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877199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584112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8245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866639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8288661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1603879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2230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518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430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CA058-5723-B805-566A-09BE09555A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50" t="427" r="15144" b="34419"/>
          <a:stretch/>
        </p:blipFill>
        <p:spPr>
          <a:xfrm>
            <a:off x="-1" y="0"/>
            <a:ext cx="1225142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7731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1629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1405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5912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5741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392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687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563919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324451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39238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377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5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57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506890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264166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591718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5932971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6889223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90621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488539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617493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958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57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451508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95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607359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161206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0031446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3337066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363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3913921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0465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5848498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143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120967756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7681"/>
            <a:ext cx="10972797" cy="834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90371"/>
            <a:ext cx="10972800" cy="40912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6AFD79-82E1-C143-90F1-03BA0E48C0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1" y="1464300"/>
            <a:ext cx="10972799" cy="44873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75C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815943-AE4F-064C-8525-BBDDBB2F5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9920" y="6389720"/>
            <a:ext cx="529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35675F-94B7-49AB-A0D8-992424F9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478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Relationship Id="rId46" Type="http://schemas.openxmlformats.org/officeDocument/2006/relationships/image" Target="../media/image1.svg"/><Relationship Id="rId4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2.xml"/><Relationship Id="rId39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86.xml"/><Relationship Id="rId43" Type="http://schemas.openxmlformats.org/officeDocument/2006/relationships/slideLayout" Target="../slideLayouts/slideLayout87.xml"/><Relationship Id="rId44" Type="http://schemas.openxmlformats.org/officeDocument/2006/relationships/slideLayout" Target="../slideLayouts/slideLayout88.xml"/><Relationship Id="rId45" Type="http://schemas.openxmlformats.org/officeDocument/2006/relationships/theme" Target="../theme/theme2.xml"/><Relationship Id="rId46" Type="http://schemas.openxmlformats.org/officeDocument/2006/relationships/image" Target="../media/image1.svg"/><Relationship Id="rId4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1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35" r:id="rId30"/>
    <p:sldLayoutId id="2147483736" r:id="rId31"/>
    <p:sldLayoutId id="2147483737" r:id="rId32"/>
    <p:sldLayoutId id="2147483738" r:id="rId33"/>
    <p:sldLayoutId id="2147483739" r:id="rId34"/>
    <p:sldLayoutId id="2147483740" r:id="rId35"/>
    <p:sldLayoutId id="2147483741" r:id="rId36"/>
    <p:sldLayoutId id="2147483742" r:id="rId37"/>
    <p:sldLayoutId id="2147483743" r:id="rId38"/>
    <p:sldLayoutId id="2147483744" r:id="rId39"/>
    <p:sldLayoutId id="2147483745" r:id="rId40"/>
    <p:sldLayoutId id="2147483746" r:id="rId41"/>
    <p:sldLayoutId id="2147483747" r:id="rId42"/>
    <p:sldLayoutId id="2147483748" r:id="rId43"/>
    <p:sldLayoutId id="2147483749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8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  <p:sldLayoutId id="2147483783" r:id="rId33"/>
    <p:sldLayoutId id="2147483784" r:id="rId34"/>
    <p:sldLayoutId id="2147483785" r:id="rId35"/>
    <p:sldLayoutId id="2147483786" r:id="rId36"/>
    <p:sldLayoutId id="2147483787" r:id="rId37"/>
    <p:sldLayoutId id="2147483788" r:id="rId38"/>
    <p:sldLayoutId id="2147483789" r:id="rId39"/>
    <p:sldLayoutId id="2147483790" r:id="rId40"/>
    <p:sldLayoutId id="2147483791" r:id="rId41"/>
    <p:sldLayoutId id="2147483792" r:id="rId42"/>
    <p:sldLayoutId id="2147483793" r:id="rId43"/>
    <p:sldLayoutId id="2147483794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Pipeline Architecture: 2-Agent Direct vs DSPy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0BF"/>
                </a:solidFill>
              </a:rPr>
              <a:t>Real Japanese procurement email (Suzuki Sekkei RFQ) — two pipelines, one email, very different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987552"/>
            <a:ext cx="4974336" cy="5742432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987552"/>
            <a:ext cx="4974336" cy="3108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033272"/>
            <a:ext cx="4791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TEST EMAIL  —  Suzuki Sekkei RFQ  (Japanese)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389888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BABAB"/>
                </a:solidFill>
              </a:rPr>
              <a:t>FROM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389888"/>
            <a:ext cx="4059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</a:rPr>
              <a:t>Kenta Yamamoto  [山本健太]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09344"/>
            <a:ext cx="4059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BABAB"/>
                </a:solidFill>
              </a:rPr>
              <a:t>yamamoto.kenta@suzuki-sekkei.co.jp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182880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BABAB"/>
                </a:solidFill>
              </a:rPr>
              <a:t>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828800"/>
            <a:ext cx="4059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</a:rPr>
              <a:t>bids@globalparts.com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204825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BABAB"/>
                </a:solidFill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048256"/>
            <a:ext cx="4059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</a:rPr>
              <a:t>May 26, 2026   10:32 AM  JST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226771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BABAB"/>
                </a:solidFill>
              </a:rPr>
              <a:t>SUBJECT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267712"/>
            <a:ext cx="4059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[URGENT] Procurement — 6-Axis Arc Welding Robots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" y="2487168"/>
            <a:ext cx="4718304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2578608"/>
            <a:ext cx="4718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BABAB"/>
                </a:solidFill>
              </a:rPr>
              <a:t>PROCUREMENT 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2779776"/>
            <a:ext cx="4718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6-Axis Arc Welding Robot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" y="3054096"/>
            <a:ext cx="1737360" cy="256032"/>
          </a:xfrm>
          <a:prstGeom prst="rect">
            <a:avLst/>
          </a:prstGeom>
          <a:solidFill>
            <a:srgbClr val="E8F0FE"/>
          </a:solidFill>
          <a:ln w="9525">
            <a:solidFill>
              <a:srgbClr val="18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090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865D6"/>
                </a:solidFill>
              </a:rPr>
              <a:t>FANUC M-10iA/12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3054096"/>
            <a:ext cx="1371600" cy="256032"/>
          </a:xfrm>
          <a:prstGeom prst="rect">
            <a:avLst/>
          </a:prstGeom>
          <a:solidFill>
            <a:srgbClr val="E0F5F7"/>
          </a:solidFill>
          <a:ln w="9525">
            <a:solidFill>
              <a:srgbClr val="008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30906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828A"/>
                </a:solidFill>
              </a:rPr>
              <a:t>Yaskawa MA1440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7872" y="3054096"/>
            <a:ext cx="822960" cy="256032"/>
          </a:xfrm>
          <a:prstGeom prst="rect">
            <a:avLst/>
          </a:prstGeom>
          <a:solidFill>
            <a:srgbClr val="F5F5F5"/>
          </a:solidFill>
          <a:ln w="9525">
            <a:solidFill>
              <a:srgbClr val="ABA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2736" y="309067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BABAB"/>
                </a:solidFill>
              </a:rPr>
              <a:t>Equiv. 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" y="3383280"/>
            <a:ext cx="146304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3419856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ABABAB"/>
                </a:solidFill>
              </a:rPr>
              <a:t>QTY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358444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</a:rPr>
              <a:t>18 units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01952" y="3383280"/>
            <a:ext cx="3108960" cy="5029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3419856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ABABAB"/>
                </a:solidFill>
              </a:rPr>
              <a:t>BUDGET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358444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JPY 220,000,000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" y="3977640"/>
            <a:ext cx="4718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BABAB"/>
                </a:solidFill>
              </a:rPr>
              <a:t>Excl. tax  •  Delivery &amp; install incl.  •  AMC billed separately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" y="4233672"/>
            <a:ext cx="4718304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4306824"/>
            <a:ext cx="4718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BABAB"/>
                </a:solidFill>
              </a:rPr>
              <a:t>DELIVERY SCHEDULE  (SPLIT: 3 × 6 UNITS)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" y="4507992"/>
            <a:ext cx="960120" cy="640080"/>
          </a:xfrm>
          <a:prstGeom prst="rect">
            <a:avLst/>
          </a:prstGeom>
          <a:solidFill>
            <a:srgbClr val="E0F5F7"/>
          </a:solidFill>
          <a:ln w="12700">
            <a:solidFill>
              <a:srgbClr val="008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4562856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828A"/>
                </a:solidFill>
              </a:rPr>
              <a:t>Phase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" y="4736592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6 units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" y="4910328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828A"/>
                </a:solidFill>
              </a:rPr>
              <a:t>Sep 15
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4736592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0" y="4507992"/>
            <a:ext cx="96012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18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0" y="4562856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865D6"/>
                </a:solidFill>
              </a:rPr>
              <a:t>Phase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4736592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6 units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910328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865D6"/>
                </a:solidFill>
              </a:rPr>
              <a:t>Nov 30
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4736592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70632" y="4507992"/>
            <a:ext cx="960120" cy="640080"/>
          </a:xfrm>
          <a:prstGeom prst="rect">
            <a:avLst/>
          </a:prstGeom>
          <a:solidFill>
            <a:srgbClr val="F0E8FA"/>
          </a:solidFill>
          <a:ln w="12700">
            <a:solidFill>
              <a:srgbClr val="6B2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70632" y="4562856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B2F9E"/>
                </a:solidFill>
              </a:rPr>
              <a:t>Phase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70632" y="4736592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6 units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70632" y="4910328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B2F9E"/>
                </a:solidFill>
              </a:rPr>
              <a:t>Jan 31
2027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30752" y="4736592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95344" y="4507992"/>
            <a:ext cx="960120" cy="640080"/>
          </a:xfrm>
          <a:prstGeom prst="rect">
            <a:avLst/>
          </a:prstGeom>
          <a:solidFill>
            <a:srgbClr val="E6F7EC"/>
          </a:solidFill>
          <a:ln w="1270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95344" y="4562856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B873E"/>
                </a:solidFill>
              </a:rPr>
              <a:t>Full Ops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95344" y="4736592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All ops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95344" y="4910328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B873E"/>
                </a:solidFill>
              </a:rPr>
              <a:t>Mar 1
2027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9184" y="5276088"/>
            <a:ext cx="4718304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5349240"/>
            <a:ext cx="4718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BABAB"/>
                </a:solidFill>
              </a:rPr>
              <a:t>TECHNICAL SPECIFICATIONS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" y="5550408"/>
            <a:ext cx="658368" cy="237744"/>
          </a:xfrm>
          <a:prstGeom prst="rect">
            <a:avLst/>
          </a:prstGeom>
          <a:solidFill>
            <a:srgbClr val="E8F0FE"/>
          </a:solidFill>
          <a:ln w="9525">
            <a:solidFill>
              <a:srgbClr val="18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" y="5586984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865D6"/>
                </a:solidFill>
              </a:rPr>
              <a:t>IP67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8992" y="5550408"/>
            <a:ext cx="658368" cy="237744"/>
          </a:xfrm>
          <a:prstGeom prst="rect">
            <a:avLst/>
          </a:prstGeom>
          <a:solidFill>
            <a:srgbClr val="E0F5F7"/>
          </a:solidFill>
          <a:ln w="9525">
            <a:solidFill>
              <a:srgbClr val="008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5586984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828A"/>
                </a:solidFill>
              </a:rPr>
              <a:t>±0.05 mm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0" y="5550408"/>
            <a:ext cx="918057" cy="237744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92808" y="5586984"/>
            <a:ext cx="8266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B873E"/>
                </a:solidFill>
              </a:rPr>
              <a:t>10 kg payload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8297" y="5550408"/>
            <a:ext cx="980236" cy="237744"/>
          </a:xfrm>
          <a:prstGeom prst="rect">
            <a:avLst/>
          </a:prstGeom>
          <a:solidFill>
            <a:srgbClr val="F0E8FA"/>
          </a:solidFill>
          <a:ln w="9525">
            <a:solidFill>
              <a:srgbClr val="6B2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02305" y="5586984"/>
            <a:ext cx="8887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B2F9E"/>
                </a:solidFill>
              </a:rPr>
              <a:t>1,400 mm reach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09973" y="5550408"/>
            <a:ext cx="793699" cy="237744"/>
          </a:xfrm>
          <a:prstGeom prst="rect">
            <a:avLst/>
          </a:prstGeom>
          <a:solidFill>
            <a:srgbClr val="FEF3E0"/>
          </a:solidFill>
          <a:ln w="9525">
            <a:solidFill>
              <a:srgbClr val="B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73981" y="5586984"/>
            <a:ext cx="702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B35A00"/>
                </a:solidFill>
              </a:rPr>
              <a:t>EtherNet/IP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9184" y="5879592"/>
            <a:ext cx="4718304" cy="1828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" y="595274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BABAB"/>
                </a:solidFill>
              </a:rPr>
              <a:t>AMC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" y="5952744"/>
            <a:ext cx="4059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B262A"/>
                </a:solidFill>
              </a:rPr>
              <a:t>Min. 3 years — scope UNDEFINED in email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9184" y="61722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BABAB"/>
                </a:solidFill>
              </a:rPr>
              <a:t>BID BY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6172200"/>
            <a:ext cx="4059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</a:rPr>
              <a:t>June 20, 2026   17:00 JST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9184" y="63916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BABAB"/>
                </a:solidFill>
              </a:rPr>
              <a:t>CONTACT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6391656"/>
            <a:ext cx="4059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</a:rPr>
              <a:t>Yamamoto Kenta [山本健太]  —  Head of Procurement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49240" y="987552"/>
            <a:ext cx="6638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A3F4A"/>
                </a:solidFill>
              </a:rPr>
              <a:t>WHY DSPY?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49240" y="1207008"/>
            <a:ext cx="3264408" cy="987552"/>
          </a:xfrm>
          <a:prstGeom prst="rect">
            <a:avLst/>
          </a:prstGeom>
          <a:solidFill>
            <a:srgbClr val="F0E8FA"/>
          </a:solidFill>
          <a:ln w="12700">
            <a:solidFill>
              <a:srgbClr val="6B2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349240" y="1207008"/>
            <a:ext cx="73152" cy="987552"/>
          </a:xfrm>
          <a:prstGeom prst="rect">
            <a:avLst/>
          </a:prstGeom>
          <a:solidFill>
            <a:srgbClr val="6B2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95544" y="128016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2F9E"/>
                </a:solidFill>
              </a:rPr>
              <a:t>Structured
Pipelines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95544" y="1682496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Chain LLM calls as typed, schema-enforced modules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23376" y="1207008"/>
            <a:ext cx="3264408" cy="987552"/>
          </a:xfrm>
          <a:prstGeom prst="rect">
            <a:avLst/>
          </a:prstGeom>
          <a:solidFill>
            <a:srgbClr val="E8F0FE"/>
          </a:solidFill>
          <a:ln w="12700">
            <a:solidFill>
              <a:srgbClr val="18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23376" y="1207008"/>
            <a:ext cx="73152" cy="987552"/>
          </a:xfrm>
          <a:prstGeom prst="rect">
            <a:avLst/>
          </a:prstGeom>
          <a:solidFill>
            <a:srgbClr val="186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69680" y="128016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65D6"/>
                </a:solidFill>
              </a:rPr>
              <a:t>Auditable
Handoffs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69680" y="1682496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Every step traceable via inspect_history()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49240" y="2286000"/>
            <a:ext cx="3264408" cy="987552"/>
          </a:xfrm>
          <a:prstGeom prst="rect">
            <a:avLst/>
          </a:prstGeom>
          <a:solidFill>
            <a:srgbClr val="E0F5F7"/>
          </a:solidFill>
          <a:ln w="12700">
            <a:solidFill>
              <a:srgbClr val="008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349240" y="2286000"/>
            <a:ext cx="73152" cy="987552"/>
          </a:xfrm>
          <a:prstGeom prst="rect">
            <a:avLst/>
          </a:prstGeom>
          <a:solidFill>
            <a:srgbClr val="008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95544" y="235915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28A"/>
                </a:solidFill>
              </a:rPr>
              <a:t>Constrained
Extraction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95544" y="27614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Signatures enforce output schema — stops drift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23376" y="2286000"/>
            <a:ext cx="3264408" cy="987552"/>
          </a:xfrm>
          <a:prstGeom prst="rect">
            <a:avLst/>
          </a:prstGeom>
          <a:solidFill>
            <a:srgbClr val="E6F7EC"/>
          </a:solidFill>
          <a:ln w="1270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23376" y="2286000"/>
            <a:ext cx="73152" cy="98755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69680" y="235915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E"/>
                </a:solidFill>
              </a:rPr>
              <a:t>Auto-
Optimizable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869680" y="27614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BootstrapFewShot tunes prompts automatically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49240" y="3456432"/>
            <a:ext cx="6638544" cy="3273552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349240" y="3456432"/>
            <a:ext cx="6638544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77256" y="3493008"/>
            <a:ext cx="6455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PIPELINE COMPARISON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77256" y="3785616"/>
            <a:ext cx="6455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B262A"/>
                </a:solidFill>
              </a:rPr>
              <a:t>Case 1 — No DSPy (2-Agent Direct)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77256" y="4005072"/>
            <a:ext cx="7315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13832" y="405993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4A4A"/>
                </a:solidFill>
              </a:rPr>
              <a:t>Email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08776" y="418795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9944" y="4005072"/>
            <a:ext cx="1828800" cy="548640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46520" y="4059936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B262A"/>
                </a:solidFill>
              </a:rPr>
              <a:t>Agent-1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46520" y="4279392"/>
            <a:ext cx="1755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Extract+Audit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38744" y="418795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39912" y="4005072"/>
            <a:ext cx="1828800" cy="548640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76488" y="4059936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B262A"/>
                </a:solidFill>
              </a:rPr>
              <a:t>Agent-2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76488" y="4279392"/>
            <a:ext cx="1755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Enrich+Validate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68712" y="418795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469880" y="4005072"/>
            <a:ext cx="7315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506456" y="405993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4A4A"/>
                </a:solidFill>
              </a:rPr>
              <a:t>Output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506456" y="427939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JSON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77256" y="4846320"/>
            <a:ext cx="64556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873E"/>
                </a:solidFill>
              </a:rPr>
              <a:t>Case 2 — With DSPy (Orchestrator)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77256" y="5065776"/>
            <a:ext cx="7315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13832" y="512064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4A4A"/>
                </a:solidFill>
              </a:rPr>
              <a:t>Email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08776" y="5248656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09944" y="5065776"/>
            <a:ext cx="1371600" cy="548640"/>
          </a:xfrm>
          <a:prstGeom prst="rect">
            <a:avLst/>
          </a:prstGeom>
          <a:solidFill>
            <a:srgbClr val="F0E8FA"/>
          </a:solidFill>
          <a:ln w="12700">
            <a:solidFill>
              <a:srgbClr val="6B2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46520" y="512064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2F9E"/>
                </a:solidFill>
              </a:rPr>
              <a:t>DSPy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46520" y="5340096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Predict(Extr)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781544" y="5248656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982712" y="5065776"/>
            <a:ext cx="1371600" cy="548640"/>
          </a:xfrm>
          <a:prstGeom prst="rect">
            <a:avLst/>
          </a:prstGeom>
          <a:solidFill>
            <a:srgbClr val="F0E8FA"/>
          </a:solidFill>
          <a:ln w="12700">
            <a:solidFill>
              <a:srgbClr val="6B2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19288" y="512064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2F9E"/>
                </a:solidFill>
              </a:rPr>
              <a:t>DSPy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19288" y="5340096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Predict(Audit)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354312" y="5248656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555480" y="5065776"/>
            <a:ext cx="1097280" cy="548640"/>
          </a:xfrm>
          <a:prstGeom prst="rect">
            <a:avLst/>
          </a:prstGeom>
          <a:solidFill>
            <a:srgbClr val="E6F7EC"/>
          </a:solidFill>
          <a:ln w="1270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592056" y="512064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873E"/>
                </a:solidFill>
              </a:rPr>
              <a:t>Agent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92056" y="5340096"/>
            <a:ext cx="1024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Enrich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652760" y="5248656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853928" y="5065776"/>
            <a:ext cx="7315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890504" y="512064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4A4A"/>
                </a:solidFill>
              </a:rPr>
              <a:t>Output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890504" y="534009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JSON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477256" y="5760720"/>
            <a:ext cx="6382512" cy="402336"/>
          </a:xfrm>
          <a:prstGeom prst="rect">
            <a:avLst/>
          </a:prstGeom>
          <a:solidFill>
            <a:srgbClr val="FEF3E0"/>
          </a:solidFill>
          <a:ln w="9525">
            <a:solidFill>
              <a:srgbClr val="B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586984" y="5833872"/>
            <a:ext cx="6163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5A00"/>
                </a:solidFill>
              </a:rPr>
              <a:t>Key Difference:  DSPy typed Signatures enforce schema at each step — prevents phantom fields and missing domain defaults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No-DSPy Pipeline (2-Agent Direct) — Evaluation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0BF"/>
                </a:solidFill>
              </a:rPr>
              <a:t>Pipeline B  ·  Japanese RFQ (Suzuki Sekkei)  ·  Two agents, no structured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1691640" cy="256032"/>
          </a:xfrm>
          <a:prstGeom prst="rect">
            <a:avLst/>
          </a:prstGeom>
          <a:solidFill>
            <a:srgbClr val="3A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33272"/>
            <a:ext cx="1581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METRIC  / 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987552"/>
            <a:ext cx="5020056" cy="25603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033272"/>
            <a:ext cx="4892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WHAT WORKED 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0296" y="987552"/>
            <a:ext cx="5020056" cy="2560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31736" y="1033272"/>
            <a:ext cx="4892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WHAT FAILED  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243584"/>
            <a:ext cx="1691640" cy="1016812"/>
          </a:xfrm>
          <a:prstGeom prst="rect">
            <a:avLst/>
          </a:prstGeom>
          <a:solidFill>
            <a:srgbClr val="FEF3E0"/>
          </a:solidFill>
          <a:ln w="19050">
            <a:solidFill>
              <a:srgbClr val="B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" y="1335024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35A00"/>
                </a:solidFill>
              </a:rPr>
              <a:t>0.83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" y="1737360"/>
            <a:ext cx="1618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4A4A"/>
                </a:solidFill>
              </a:rPr>
              <a:t>F1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" y="2022652"/>
            <a:ext cx="512064" cy="201168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" y="20226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WARN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" y="1803196"/>
            <a:ext cx="1435608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" y="1803196"/>
            <a:ext cx="1191554" cy="91440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1243584"/>
            <a:ext cx="27432" cy="101681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47672" y="1243584"/>
            <a:ext cx="5020056" cy="219456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47672" y="1243584"/>
            <a:ext cx="457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39112" y="1280160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873E"/>
                </a:solidFill>
              </a:rPr>
              <a:t>✓  What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9112" y="149961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All 40 core facts extracted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39112" y="170992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Specs, budget, delivery correct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9112" y="1920240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JIS / ISO standards identified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67728" y="1243584"/>
            <a:ext cx="27432" cy="101681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5160" y="1243584"/>
            <a:ext cx="5020056" cy="219456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95160" y="1243584"/>
            <a:ext cx="45720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1280160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✗  What Failed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149961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2 phantom vendor sections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170992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12 NEEDS_INPUT — only 2 genuine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1920240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Schema inflation lowers precision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1243584"/>
            <a:ext cx="11731752" cy="10168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2260396"/>
            <a:ext cx="1691640" cy="1016812"/>
          </a:xfrm>
          <a:prstGeom prst="rect">
            <a:avLst/>
          </a:prstGeom>
          <a:solidFill>
            <a:srgbClr val="E6F7EC"/>
          </a:solidFill>
          <a:ln w="1905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" y="2351836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873E"/>
                </a:solidFill>
              </a:rPr>
              <a:t>0.95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" y="2754172"/>
            <a:ext cx="1618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4A4A"/>
                </a:solidFill>
              </a:rPr>
              <a:t>Faithfulness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" y="3039465"/>
            <a:ext cx="512064" cy="201168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" y="3039465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" y="2820009"/>
            <a:ext cx="1435608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6616" y="2820009"/>
            <a:ext cx="1363827" cy="9144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20240" y="2260396"/>
            <a:ext cx="27432" cy="101681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47672" y="2260396"/>
            <a:ext cx="5020056" cy="219456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47672" y="2260396"/>
            <a:ext cx="457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39112" y="2296972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873E"/>
                </a:solidFill>
              </a:rPr>
              <a:t>✓  What Worked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39112" y="251642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Readable dates: 'Sep 15, 2026'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2726740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Japanese brackets throughout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39112" y="2937052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'Equiv. models' captured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67728" y="2260396"/>
            <a:ext cx="27432" cy="101681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95160" y="2260396"/>
            <a:ext cx="5020056" cy="219456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95160" y="2260396"/>
            <a:ext cx="45720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0" y="2296972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✗  What Failed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251642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Vendor fields not in source email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2726740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Wrong risk flag for buyer RFQ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2937052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Schema has phantom sections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2260396"/>
            <a:ext cx="11731752" cy="10168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" y="3277209"/>
            <a:ext cx="1691640" cy="1016812"/>
          </a:xfrm>
          <a:prstGeom prst="rect">
            <a:avLst/>
          </a:prstGeom>
          <a:solidFill>
            <a:srgbClr val="FDE8E8"/>
          </a:solidFill>
          <a:ln w="1905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6" y="3368649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B262A"/>
                </a:solidFill>
              </a:rPr>
              <a:t>64%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" y="3770985"/>
            <a:ext cx="1618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4A4A"/>
                </a:solidFill>
              </a:rPr>
              <a:t>Output Relevancy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8" y="4056278"/>
            <a:ext cx="512064" cy="201168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8388" y="4056278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" y="3836822"/>
            <a:ext cx="1435608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6616" y="3836822"/>
            <a:ext cx="918789" cy="9144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920240" y="3277209"/>
            <a:ext cx="27432" cy="101681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947672" y="3277209"/>
            <a:ext cx="5020056" cy="219456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947672" y="3277209"/>
            <a:ext cx="457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39112" y="3313785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873E"/>
                </a:solidFill>
              </a:rPr>
              <a:t>✓  What Worked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39112" y="3533241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Correct domain: procurement/RFQ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39112" y="3743553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All technical specs extracted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39112" y="3953865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open_items in array format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67728" y="3277209"/>
            <a:ext cx="27432" cy="101681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95160" y="3277209"/>
            <a:ext cx="5020056" cy="219456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95160" y="3277209"/>
            <a:ext cx="45720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86600" y="3313785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✗  What Failed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86600" y="3533241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14 NEEDS_INPUT (12 phantom)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86600" y="3743553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Zero domain defaults applied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6600" y="3953865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ERP record incomplete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3277209"/>
            <a:ext cx="11731752" cy="10168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28600" y="4294022"/>
            <a:ext cx="1691640" cy="1016812"/>
          </a:xfrm>
          <a:prstGeom prst="rect">
            <a:avLst/>
          </a:prstGeom>
          <a:solidFill>
            <a:srgbClr val="FEF3E0"/>
          </a:solidFill>
          <a:ln w="19050">
            <a:solidFill>
              <a:srgbClr val="B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5176" y="4385462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35A00"/>
                </a:solidFill>
              </a:rPr>
              <a:t>0.80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5176" y="4787798"/>
            <a:ext cx="1618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4A4A"/>
                </a:solidFill>
              </a:rPr>
              <a:t>Output Correctness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8388" y="5073091"/>
            <a:ext cx="512064" cy="201168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8388" y="5073091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WARN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6616" y="4853635"/>
            <a:ext cx="1435608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6616" y="4853635"/>
            <a:ext cx="1148486" cy="91440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920240" y="4294022"/>
            <a:ext cx="27432" cy="101681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947672" y="4294022"/>
            <a:ext cx="5020056" cy="219456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47672" y="4294022"/>
            <a:ext cx="457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39112" y="4330598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873E"/>
                </a:solidFill>
              </a:rPr>
              <a:t>✓  What Worked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39112" y="455005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Tech specs 100% correct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39112" y="476036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Budget inclusions/exclusions right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39112" y="497067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3-phase delivery accurate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67728" y="4294022"/>
            <a:ext cx="27432" cy="101681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95160" y="4294022"/>
            <a:ext cx="5020056" cy="219456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95160" y="4294022"/>
            <a:ext cx="45720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86600" y="4330598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✗  What Failed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86600" y="455005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0/7 domain fields applied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86600" y="476036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Only 45 of 55 fields filled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86600" y="497067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Phantom fields inflate validation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28600" y="4294022"/>
            <a:ext cx="11731752" cy="10168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28600" y="5310835"/>
            <a:ext cx="1691640" cy="1016812"/>
          </a:xfrm>
          <a:prstGeom prst="rect">
            <a:avLst/>
          </a:prstGeom>
          <a:solidFill>
            <a:srgbClr val="FDE8E8"/>
          </a:solidFill>
          <a:ln w="1905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65176" y="5402275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B262A"/>
                </a:solidFill>
              </a:rPr>
              <a:t>15%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5176" y="5804611"/>
            <a:ext cx="1618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4A4A"/>
                </a:solidFill>
              </a:rPr>
              <a:t>Hallucination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8388" y="6089904"/>
            <a:ext cx="512064" cy="201168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8388" y="6089904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POOR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6616" y="5870448"/>
            <a:ext cx="1435608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56616" y="5870448"/>
            <a:ext cx="215341" cy="9144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20240" y="5310835"/>
            <a:ext cx="27432" cy="101681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947672" y="5310835"/>
            <a:ext cx="5020056" cy="219456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947672" y="5310835"/>
            <a:ext cx="457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039112" y="5347411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873E"/>
                </a:solidFill>
              </a:rPr>
              <a:t>✓  What Worked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039112" y="5566867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Core facts grounded in email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39112" y="5777179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No numeric values fabricated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39112" y="5987491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Resolution log honest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967728" y="5310835"/>
            <a:ext cx="27432" cy="101681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95160" y="5310835"/>
            <a:ext cx="5020056" cy="219456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995160" y="5310835"/>
            <a:ext cx="45720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086600" y="5347411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✗  What Failed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086600" y="5566867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Vendor section from nothing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086600" y="5777179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12 phantom NEEDS_INPUT fields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086600" y="5987491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Wrong risk: 'no supplier details'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0835"/>
            <a:ext cx="11731752" cy="10168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28600" y="6364224"/>
            <a:ext cx="11731752" cy="457200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28600" y="6364224"/>
            <a:ext cx="91440" cy="4572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11480" y="6455664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Pipeline B  ·  Faithful to source (0.95) but schema inflation, missing domain fills, and wrong risk flags make it incomplete for ERP use. Loses 4 of 5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DSPy Orchestrator — Evaluation Metrics &amp; Final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0BF"/>
                </a:solidFill>
              </a:rPr>
              <a:t>Pipeline A  ·  Same Japanese RFQ  ·  Typed Signatures + structured 3-step audit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1691640" cy="256032"/>
          </a:xfrm>
          <a:prstGeom prst="rect">
            <a:avLst/>
          </a:prstGeom>
          <a:solidFill>
            <a:srgbClr val="3A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33272"/>
            <a:ext cx="1581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METRIC  / 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987552"/>
            <a:ext cx="5020056" cy="25603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033272"/>
            <a:ext cx="4892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WHAT WORKED 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0296" y="987552"/>
            <a:ext cx="5020056" cy="2560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31736" y="1033272"/>
            <a:ext cx="4892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WHAT FAILED  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243584"/>
            <a:ext cx="1691640" cy="672998"/>
          </a:xfrm>
          <a:prstGeom prst="rect">
            <a:avLst/>
          </a:prstGeom>
          <a:solidFill>
            <a:srgbClr val="E6F7EC"/>
          </a:solidFill>
          <a:ln w="1905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" y="1335024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873E"/>
                </a:solidFill>
              </a:rPr>
              <a:t>0.87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" y="1737360"/>
            <a:ext cx="1618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4A4A"/>
                </a:solidFill>
              </a:rPr>
              <a:t>F1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" y="1678838"/>
            <a:ext cx="512064" cy="201168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" y="1678838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" y="1459382"/>
            <a:ext cx="1435608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" y="1459382"/>
            <a:ext cx="1248978" cy="9144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1243584"/>
            <a:ext cx="27432" cy="67299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47672" y="1243584"/>
            <a:ext cx="5020056" cy="219456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47672" y="1243584"/>
            <a:ext cx="457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39112" y="1280160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873E"/>
                </a:solidFill>
              </a:rPr>
              <a:t>✓  What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9112" y="149961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55 fields (10 more than 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39112" y="170992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7 domain defaults auto-applied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9112" y="1920240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Only 2 genuine NEEDS_INPUT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67728" y="1243584"/>
            <a:ext cx="27432" cy="67299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5160" y="1243584"/>
            <a:ext cx="5020056" cy="219456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95160" y="1243584"/>
            <a:ext cx="45720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1280160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✗  What Failed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149961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Duplicate keys in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170992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open_items: {} not []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1920240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amc_duration key duplicated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1243584"/>
            <a:ext cx="11731752" cy="672998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1916582"/>
            <a:ext cx="1691640" cy="672998"/>
          </a:xfrm>
          <a:prstGeom prst="rect">
            <a:avLst/>
          </a:prstGeom>
          <a:solidFill>
            <a:srgbClr val="E6F7EC"/>
          </a:solidFill>
          <a:ln w="1905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" y="2008022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873E"/>
                </a:solidFill>
              </a:rPr>
              <a:t>0.92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" y="2410358"/>
            <a:ext cx="1618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4A4A"/>
                </a:solidFill>
              </a:rPr>
              <a:t>Faithfulness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" y="2351836"/>
            <a:ext cx="512064" cy="201168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" y="2351836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" y="2132380"/>
            <a:ext cx="1435608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6616" y="2132380"/>
            <a:ext cx="1320759" cy="9144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20240" y="1916582"/>
            <a:ext cx="27432" cy="67299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47672" y="1916582"/>
            <a:ext cx="5020056" cy="219456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47672" y="1916582"/>
            <a:ext cx="457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39112" y="1953158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873E"/>
                </a:solidFill>
              </a:rPr>
              <a:t>✓  What Worked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39112" y="217261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All 40 core facts verified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238292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Zero phantom sections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39112" y="259323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Japanese fully translated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67728" y="1916582"/>
            <a:ext cx="27432" cy="67299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95160" y="1916582"/>
            <a:ext cx="5020056" cy="219456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95160" y="1916582"/>
            <a:ext cx="45720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0" y="1953158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✗  What Failed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217261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ISO dates not readable English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238292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Company inferred from email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259323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3 risks absent from risk_flags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1916582"/>
            <a:ext cx="11731752" cy="672998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" y="2589580"/>
            <a:ext cx="1691640" cy="672998"/>
          </a:xfrm>
          <a:prstGeom prst="rect">
            <a:avLst/>
          </a:prstGeom>
          <a:solidFill>
            <a:srgbClr val="FEF3E0"/>
          </a:solidFill>
          <a:ln w="19050">
            <a:solidFill>
              <a:srgbClr val="B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6" y="268102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35A00"/>
                </a:solidFill>
              </a:rPr>
              <a:t>79%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" y="3083356"/>
            <a:ext cx="1618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4A4A"/>
                </a:solidFill>
              </a:rPr>
              <a:t>Output Relevancy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8" y="3024835"/>
            <a:ext cx="512064" cy="201168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8388" y="3024835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WARN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" y="2805379"/>
            <a:ext cx="1435608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6616" y="2805379"/>
            <a:ext cx="1134130" cy="91440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920240" y="2589580"/>
            <a:ext cx="27432" cy="67299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947672" y="2589580"/>
            <a:ext cx="5020056" cy="219456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947672" y="2589580"/>
            <a:ext cx="457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39112" y="2626156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873E"/>
                </a:solidFill>
              </a:rPr>
              <a:t>✓  What Worked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39112" y="2845612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Full ERP-ready record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39112" y="305592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Laws of Japan, JCAA, Net 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39112" y="326623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+23% vs Pipeline 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67728" y="2589580"/>
            <a:ext cx="27432" cy="67299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95160" y="2589580"/>
            <a:ext cx="5020056" cy="219456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95160" y="2589580"/>
            <a:ext cx="45720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86600" y="2626156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✗  What Failed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86600" y="2845612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risk_flags empty — 3 missed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86600" y="305592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AMC scope, tax, RFQ ref gap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6600" y="326623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2 NEEDS_INPUT remain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2589580"/>
            <a:ext cx="11731752" cy="672998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28600" y="3262579"/>
            <a:ext cx="1691640" cy="672998"/>
          </a:xfrm>
          <a:prstGeom prst="rect">
            <a:avLst/>
          </a:prstGeom>
          <a:solidFill>
            <a:srgbClr val="E6F7EC"/>
          </a:solidFill>
          <a:ln w="1905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5176" y="3354019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873E"/>
                </a:solidFill>
              </a:rPr>
              <a:t>0.88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5176" y="3756355"/>
            <a:ext cx="1618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4A4A"/>
                </a:solidFill>
              </a:rPr>
              <a:t>Output Correctness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8388" y="3697833"/>
            <a:ext cx="512064" cy="201168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8388" y="3697833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6616" y="3478377"/>
            <a:ext cx="1435608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6616" y="3478377"/>
            <a:ext cx="1263335" cy="9144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920240" y="3262579"/>
            <a:ext cx="27432" cy="67299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947672" y="3262579"/>
            <a:ext cx="5020056" cy="219456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47672" y="3262579"/>
            <a:ext cx="457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39112" y="3299155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873E"/>
                </a:solidFill>
              </a:rPr>
              <a:t>✓  What Worked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39112" y="3518611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AuditSignature validates schema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39112" y="3728923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Domain fills auto-applied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39112" y="3939235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3-step structured pipeline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67728" y="3262579"/>
            <a:ext cx="27432" cy="67299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95160" y="3262579"/>
            <a:ext cx="5020056" cy="219456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95160" y="3262579"/>
            <a:ext cx="45720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86600" y="3299155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✗  What Failed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86600" y="3518611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open_items: {} schema error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86600" y="3728923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Dates in ISO not English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86600" y="3939235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Only 2 resolution entries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28600" y="3262579"/>
            <a:ext cx="11731752" cy="672998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28600" y="3935577"/>
            <a:ext cx="1691640" cy="672998"/>
          </a:xfrm>
          <a:prstGeom prst="rect">
            <a:avLst/>
          </a:prstGeom>
          <a:solidFill>
            <a:srgbClr val="E6F7EC"/>
          </a:solidFill>
          <a:ln w="1905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65176" y="4027017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873E"/>
                </a:solidFill>
              </a:rPr>
              <a:t>8%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5176" y="4429353"/>
            <a:ext cx="1618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4A4A"/>
                </a:solidFill>
              </a:rPr>
              <a:t>Hallucination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8388" y="4370832"/>
            <a:ext cx="512064" cy="201168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8388" y="437083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6616" y="4151376"/>
            <a:ext cx="1435608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56616" y="4151376"/>
            <a:ext cx="114848" cy="9144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20240" y="3935577"/>
            <a:ext cx="27432" cy="67299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947672" y="3935577"/>
            <a:ext cx="5020056" cy="219456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947672" y="3935577"/>
            <a:ext cx="457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039112" y="3972153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873E"/>
                </a:solidFill>
              </a:rPr>
              <a:t>✓  What Worked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039112" y="4191609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Zero phantom sections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39112" y="4401921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No vendor data inflated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39112" y="4612233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Halved vs Pipeline B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967728" y="3935577"/>
            <a:ext cx="27432" cy="67299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95160" y="3935577"/>
            <a:ext cx="5020056" cy="219456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995160" y="3935577"/>
            <a:ext cx="45720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086600" y="3972153"/>
            <a:ext cx="4892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B262A"/>
                </a:solidFill>
              </a:rPr>
              <a:t>✗  What Failed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086600" y="4191609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Company from email address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086600" y="4401921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Silent miss on 3 real risks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086600" y="4612233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●  Shared risk blind spot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3935577"/>
            <a:ext cx="11731752" cy="672998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28600" y="4718304"/>
            <a:ext cx="11731752" cy="23774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56616" y="4754880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FINAL COMPARISON  —  Pipeline A (DSPy)  vs  Pipeline B (2-Agent Direct)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8600" y="4956048"/>
            <a:ext cx="164592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83464" y="50109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874520" y="4956048"/>
            <a:ext cx="91440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929384" y="50109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No-DSPy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88920" y="4956048"/>
            <a:ext cx="91440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843784" y="50109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DSPy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03320" y="4956048"/>
            <a:ext cx="786384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58184" y="5010912"/>
            <a:ext cx="6949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Delta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489704" y="4956048"/>
            <a:ext cx="7470648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44568" y="5010912"/>
            <a:ext cx="7379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Winner &amp; Finding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28600" y="5212080"/>
            <a:ext cx="1645920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83464" y="52578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F1 Score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874520" y="5212080"/>
            <a:ext cx="914400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911096" y="524865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0.83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88920" y="5212080"/>
            <a:ext cx="914400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25496" y="524865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0.87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703320" y="5212080"/>
            <a:ext cx="786384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739896" y="5248656"/>
            <a:ext cx="713232" cy="18288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739896" y="5248656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+5%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489704" y="5212080"/>
            <a:ext cx="7470648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62856" y="5257800"/>
            <a:ext cx="7342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DSPy — domain defaults + fewer phantom fields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5468112"/>
            <a:ext cx="164592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83464" y="5513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Faithfulness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874520" y="5468112"/>
            <a:ext cx="91440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911096" y="550468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0.95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88920" y="5468112"/>
            <a:ext cx="91440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825496" y="5504688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35A00"/>
                </a:solidFill>
              </a:rPr>
              <a:t>0.92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703320" y="5468112"/>
            <a:ext cx="786384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739896" y="5504688"/>
            <a:ext cx="713232" cy="182880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739896" y="550468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−3 pp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489704" y="5468112"/>
            <a:ext cx="7470648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562856" y="5513832"/>
            <a:ext cx="7342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No-DSPy — readable dates, Japanese brackets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28600" y="5724144"/>
            <a:ext cx="1645920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83464" y="57698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Output Relevancy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874520" y="5724144"/>
            <a:ext cx="914400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911096" y="576072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64%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88920" y="5724144"/>
            <a:ext cx="914400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825496" y="576072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79%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703320" y="5724144"/>
            <a:ext cx="786384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739896" y="5760720"/>
            <a:ext cx="713232" cy="18288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739896" y="5760720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+23%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489704" y="5724144"/>
            <a:ext cx="7470648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562856" y="5769864"/>
            <a:ext cx="7342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DSPy — ERP-ready, 55 fields, JCAA, Net 30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28600" y="5980176"/>
            <a:ext cx="164592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83464" y="60258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Output Correct.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874520" y="5980176"/>
            <a:ext cx="91440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911096" y="601675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0.80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5980176"/>
            <a:ext cx="91440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825496" y="601675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0.88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703320" y="5980176"/>
            <a:ext cx="786384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739896" y="6016752"/>
            <a:ext cx="713232" cy="18288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739896" y="601675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+10%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489704" y="5980176"/>
            <a:ext cx="7470648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62856" y="6025896"/>
            <a:ext cx="7342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DSPy — AuditSignature prevents schema drift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28600" y="6236208"/>
            <a:ext cx="1645920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83464" y="62819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Hallucination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874520" y="6236208"/>
            <a:ext cx="914400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911096" y="6272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15%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88920" y="6236208"/>
            <a:ext cx="914400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825496" y="6272784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8%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703320" y="6236208"/>
            <a:ext cx="786384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739896" y="6272784"/>
            <a:ext cx="713232" cy="18288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739896" y="6272784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−47%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489704" y="6236208"/>
            <a:ext cx="7470648" cy="256032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562856" y="6281928"/>
            <a:ext cx="7342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DSPy — zero phantom sections, halved rate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28600" y="6510528"/>
            <a:ext cx="11731752" cy="310896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228600" y="6510528"/>
            <a:ext cx="91440" cy="31089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11480" y="656539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VERDICT:  DSPy wins 4/5 — Hallucination 8% vs 15%  ·  Confidence 79% vs 64%  ·  55 vs 45 fields  ·  Zero phantom sections.   No-DSPy wins Faithfulness (0.95 vs 0.92).   Critical gap BOTH:  add RiskSignature for AMC, tax &amp; RFQ 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odapt Template" id="{BEA06CDB-37E2-4EB1-900A-1551629CEA0E}" vid="{BBDB73F9-D2B3-48F7-985A-E3E6915AEB01}"/>
    </a:ext>
  </a:extLst>
</a:theme>
</file>

<file path=ppt/theme/theme2.xml><?xml version="1.0" encoding="utf-8"?>
<a:theme xmlns:a="http://schemas.openxmlformats.org/drawingml/2006/main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esentation1" id="{F15BEDC6-FB48-47A5-80AF-B11DDDEE5AA1}" vid="{08D7E6E7-F3BD-41C5-BA27-B03C5328B8B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07E57A-CA57-4777-9559-C7DC9DFFE602}">
  <we:reference id="f5f369e5-aa35-49d7-ad7b-638152ddb008" version="1.0.0.1" store="excatalog" storeType="excatalog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539141-1d24-469a-8c72-ac806e3c9d09">
      <Terms xmlns="http://schemas.microsoft.com/office/infopath/2007/PartnerControls"/>
    </lcf76f155ced4ddcb4097134ff3c332f>
    <TaxCatchAll xmlns="d094aa81-11af-402c-8a55-d570af07a0a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562D50054BE4089858ABA81ECFE52" ma:contentTypeVersion="12" ma:contentTypeDescription="Create a new document." ma:contentTypeScope="" ma:versionID="916f91e18bc73d2a72e51933fb9a2e2c">
  <xsd:schema xmlns:xsd="http://www.w3.org/2001/XMLSchema" xmlns:xs="http://www.w3.org/2001/XMLSchema" xmlns:p="http://schemas.microsoft.com/office/2006/metadata/properties" xmlns:ns2="b2539141-1d24-469a-8c72-ac806e3c9d09" xmlns:ns3="d094aa81-11af-402c-8a55-d570af07a0a0" targetNamespace="http://schemas.microsoft.com/office/2006/metadata/properties" ma:root="true" ma:fieldsID="4866675fb9fbe3cf38b39c7212216526" ns2:_="" ns3:_="">
    <xsd:import namespace="b2539141-1d24-469a-8c72-ac806e3c9d09"/>
    <xsd:import namespace="d094aa81-11af-402c-8a55-d570af07a0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39141-1d24-469a-8c72-ac806e3c9d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7f86abb-38d7-41bf-bac4-7745b1ce4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94aa81-11af-402c-8a55-d570af07a0a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32cf5fc-88d0-46ca-a8f5-356c383ddebb}" ma:internalName="TaxCatchAll" ma:showField="CatchAllData" ma:web="d094aa81-11af-402c-8a55-d570af07a0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CF3A99-51F0-43A9-87E1-C8A5C1302A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6E059C-EB5A-4ADE-85E0-7FB6777C39D8}">
  <ds:schemaRefs>
    <ds:schemaRef ds:uri="b2539141-1d24-469a-8c72-ac806e3c9d0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094aa81-11af-402c-8a55-d570af07a0a0"/>
  </ds:schemaRefs>
</ds:datastoreItem>
</file>

<file path=customXml/itemProps3.xml><?xml version="1.0" encoding="utf-8"?>
<ds:datastoreItem xmlns:ds="http://schemas.openxmlformats.org/officeDocument/2006/customXml" ds:itemID="{547996D4-D8DF-4F6A-9496-56D6C65F8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539141-1d24-469a-8c72-ac806e3c9d09"/>
    <ds:schemaRef ds:uri="d094aa81-11af-402c-8a55-d570af07a0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1_Theme - Prodapt PPT</vt:lpstr>
      <vt:lpstr>Theme - Prodapt PPT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P</dc:creator>
  <cp:revision>17</cp:revision>
  <dcterms:created xsi:type="dcterms:W3CDTF">2026-05-08T09:09:19Z</dcterms:created>
  <dcterms:modified xsi:type="dcterms:W3CDTF">2026-05-29T07:17:35Z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0x010100C2F562D50054BE4089858ABA81ECFE52</vt:lpwstr>
  </property>
  <property fmtid="{D5CDD505-2E9C-101B-9397-08002B2CF9AE}" pid="3" name="MediaServiceImageTags">
    <vt:lpwstr/>
  </property>
</Properties>
</file>